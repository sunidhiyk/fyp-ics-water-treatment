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Recall</c:v>
                </c:pt>
              </c:strCache>
            </c:strRef>
          </c:tx>
          <c:spPr>
            <a:solidFill>
              <a:srgbClr val="13678A"/>
            </a:solidFill>
            <a:effectLst/>
          </c:spPr>
          <c:invertIfNegative val="0"/>
          <c:dLbls>
            <c:numFmt formatCode="0.00" sourceLinked="0"/>
            <c:txPr>
              <a:bodyPr/>
              <a:lstStyle/>
              <a:p>
                <a:pPr>
                  <a:defRPr b="0" i="0" strike="noStrike" sz="1100" u="none">
                    <a:solidFill>
                      <a:srgbClr val="1B263B"/>
                    </a:solidFill>
                    <a:latin typeface="Arial"/>
                  </a:defRPr>
                </a:pPr>
              </a:p>
            </c:txPr>
            <c:showLegendKey val="0"/>
            <c:showVal val="1"/>
            <c:showCatName val="0"/>
            <c:showSerName val="0"/>
            <c:showPercent val="0"/>
            <c:showBubbleSize val="0"/>
            <c:showLeaderLines val="0"/>
          </c:dLbls>
          <c:cat>
            <c:multiLvlStrRef>
              <c:f>Sheet1!$A$2:$A$5</c:f>
              <c:multiLvlStrCache>
                <c:ptCount val="4"/>
                <c:lvl>
                  <c:pt idx="0">
                    <c:v>DPI</c:v>
                  </c:pt>
                  <c:pt idx="1">
                    <c:v>Flow monitor</c:v>
                  </c:pt>
                  <c:pt idx="2">
                    <c:v>LSTM</c:v>
                  </c:pt>
                  <c:pt idx="3">
                    <c:v>Combined</c:v>
                  </c:pt>
                </c:lvl>
              </c:multiLvlStrCache>
            </c:multiLvlStrRef>
          </c:cat>
          <c:val>
            <c:numRef>
              <c:f>Sheet1!$B$2:$B$5</c:f>
              <c:numCache>
                <c:formatCode>General</c:formatCode>
                <c:ptCount val="4"/>
                <c:pt idx="0">
                  <c:v>0.6</c:v>
                </c:pt>
                <c:pt idx="1">
                  <c:v>0.2</c:v>
                </c:pt>
                <c:pt idx="2">
                  <c:v>0.6</c:v>
                </c:pt>
                <c:pt idx="3">
                  <c:v>1</c:v>
                </c:pt>
              </c:numCache>
            </c:numRef>
          </c:val>
        </c:ser>
        <c:ser>
          <c:idx val="1"/>
          <c:order val="1"/>
          <c:tx>
            <c:strRef>
              <c:f>Sheet1!$C$1</c:f>
              <c:strCache>
                <c:ptCount val="1"/>
                <c:pt idx="0">
                  <c:v>Precision</c:v>
                </c:pt>
              </c:strCache>
            </c:strRef>
          </c:tx>
          <c:spPr>
            <a:solidFill>
              <a:srgbClr val="0B2545"/>
            </a:solidFill>
            <a:effectLst/>
          </c:spPr>
          <c:invertIfNegative val="0"/>
          <c:dLbls>
            <c:numFmt formatCode="0.00" sourceLinked="0"/>
            <c:txPr>
              <a:bodyPr/>
              <a:lstStyle/>
              <a:p>
                <a:pPr>
                  <a:defRPr b="0" i="0" strike="noStrike" sz="1100" u="none">
                    <a:solidFill>
                      <a:srgbClr val="1B263B"/>
                    </a:solidFill>
                    <a:latin typeface="Arial"/>
                  </a:defRPr>
                </a:pPr>
              </a:p>
            </c:txPr>
            <c:showLegendKey val="0"/>
            <c:showVal val="1"/>
            <c:showCatName val="0"/>
            <c:showSerName val="0"/>
            <c:showPercent val="0"/>
            <c:showBubbleSize val="0"/>
            <c:showLeaderLines val="0"/>
          </c:dLbls>
          <c:cat>
            <c:multiLvlStrRef>
              <c:f>Sheet1!$A$2:$A$5</c:f>
              <c:multiLvlStrCache>
                <c:ptCount val="4"/>
                <c:lvl>
                  <c:pt idx="0">
                    <c:v>DPI</c:v>
                  </c:pt>
                  <c:pt idx="1">
                    <c:v>Flow monitor</c:v>
                  </c:pt>
                  <c:pt idx="2">
                    <c:v>LSTM</c:v>
                  </c:pt>
                  <c:pt idx="3">
                    <c:v>Combined</c:v>
                  </c:pt>
                </c:lvl>
              </c:multiLvlStrCache>
            </c:multiLvlStrRef>
          </c:cat>
          <c:val>
            <c:numRef>
              <c:f>Sheet1!$C$2:$C$5</c:f>
              <c:numCache>
                <c:formatCode>General</c:formatCode>
                <c:ptCount val="4"/>
                <c:pt idx="0">
                  <c:v>1</c:v>
                </c:pt>
                <c:pt idx="1">
                  <c:v>1</c:v>
                </c:pt>
                <c:pt idx="2">
                  <c:v>0.833</c:v>
                </c:pt>
                <c:pt idx="3">
                  <c:v>0.893</c:v>
                </c:pt>
              </c:numCache>
            </c:numRef>
          </c:val>
        </c:ser>
        <c:dLbls>
          <c:numFmt formatCode="0.00" sourceLinked="0"/>
          <c:txPr>
            <a:bodyPr/>
            <a:lstStyle/>
            <a:p>
              <a:pPr>
                <a:defRPr b="0" i="0" strike="noStrike" sz="1100" u="none">
                  <a:solidFill>
                    <a:srgbClr val="1B263B"/>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63B"/>
                </a:solidFill>
                <a:latin typeface="Arial"/>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9525" cap="flat">
              <a:solidFill>
                <a:srgbClr val="E3E8EC"/>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7A"/>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B263B"/>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detects cyber-attacks on the control network of a water treatment plant. Because we had no hardware, we built the whole plant, network and attacks in software, then designed three detection layers and a tamper-proof log, and evaluated them on our own data and on a public dataset from a real testbed.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is that industrial protocols like Modbus have no authentication. Whoever can reach the PLC can command it. Real incidents such as Stuxnet, the Ukrainian grid attacks and intrusions at the Oldsmar and Muleshoe water facilities show these are practical threats, not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follow a detection-in-depth design. A protocol-aware rule engine inspects every write, a flow monitor watches traffic volume, and an LSTM learns what normal plant behaviour looks like. Every command and alert goes into a tamper-evident ledger. The key constraint was no hardware, so everything is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proposal item was replaced by something we could run on a laptop while keeping the part being studied realistic. Modbus has the same security weakness as EtherNet/IP. The hash chain gives the same tamper evidence as a blockchain for a single organisation. SWaT needs an access application, so we used our own dataset plus the public HAI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plant simulator exposes its sensors and actuators as Modbus registers. A Python controller acting as the HMI reads and writes them over Modbus TCP, and the attacker sends its own requests. Two logs are recorded: the network log of every request, used by the rule engine and the flow monitor, and a once-per-second device log used by the LSTM. The correlator merges alerts, writes them to the ledger and feeds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plot shows the tank level, pH and two pumps over the run, with attack windows shaded. False data injection fakes the tank level above its limit. Command injection turns the transfer pump off. Flooding sends forty requests a second. Replay re-sends a recorded command. The stealth attack is a compromised HMI holding the acid pump on, which slowly drives the pH down while every request looks valid.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engine decodes every Modbus write and checks three rules, in the spirit of the PA-NIDS paper. Its strength is that alerts say exactly who wrote what to which device. It flagged every false-data-injection, command-injection and replay write, with no false alarms. By design it cannot see floods of reads or valid commands from a compromised HMI; that is what the other two layers are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 monitor learns normal traffic volume and flags any source far above it; it caught every flood second. The LSTM learns what ten seconds of normal plant behaviour look like. The stealth attack mainly changes one pump and the pH, so averaging the error over all 22 signals hides it: only 29 of 54 windows were caught. Scoring by the worst signal catches all 54, with no false alarms on normal 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is the dashboard during a false data injection: the tank level card is red and the alert is logged. Every command and alert is chained and signed, so if anyone edits the log afterwards, verification fails and points to the altered entry, as in the top-right screenshot. This is the demo we can show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ablation. On their own the layers catch at most 60% of attack seconds. Combined they catch every attack second, with 0.89 precision, and raise an alert in the first second of every attack. The only false positives are the nine seconds after some attacks end, when the LSTM's ten-second window still contains attack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grid is the detection-in-depth argument in one picture. Each layer has blind spots, and each blind spot is covered by another layer. Only the combined system reaches 100% on every attack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check whether the LSTM generalises, we trained and tested it on HAI 22.04, data from a real hardware-in-the-loop testbed. It ranks attacks above normal better than chance, but it is not a usable alarm. With the threshold from training it flags most of the day; with the threshold set on a separate normal recording, false alarms are rare but it catches only 2 of 7 attacks. The plot shows why: the score tracks the plant's operating mode, which changes during the test day in a way the model never saw. We planned both rounds in advance and ran each once, so we did not tune the model to the test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lessons. First, operating-mode changes are the main obstacle for the learning-based layer. Second, a design choice that works in a clean simulation can fail on real data. Third, plotting our own dataset revealed a bug in the simulated controller that had skewed our results; we fixed it, re-ran everything, and added a test so it cannot come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clear about the limits. The simulator results come from attacks we designed, the LSTM does not yet generalise to a real plant, the network log is recorded by our generator rather than captured from the wire, and detection runs offline. The future work follows directly from these: make the LSTM mode-aware, validate more widely on HAI, capture real traffic, and run the detectors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layered detection works on our simulated plant, catching all five attacks in the first second with alerts an operator can act on. The ledger makes the record tamper-evident. On real data the learning-based layer is not yet reliable, and handling operating modes is the next step. Thank you, we are happy to take questions or show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Text 0"/>
          <p:cNvSpPr txBox="1"/>
          <p:nvPr/>
        </p:nvSpPr>
        <p:spPr>
          <a:xfrm>
            <a:off x="548640" y="914400"/>
            <a:ext cx="7315200" cy="365760"/>
          </a:xfrm>
          <a:prstGeom prst="rect">
            <a:avLst/>
          </a:prstGeom>
          <a:noFill/>
          <a:ln/>
        </p:spPr>
        <p:txBody>
          <a:bodyPr wrap="square" lIns="0" tIns="0" rIns="0" bIns="0" rtlCol="0" anchor="ctr"/>
          <a:lstStyle/>
          <a:p>
            <a:pPr indent="0" marL="0">
              <a:buNone/>
            </a:pPr>
            <a:r>
              <a:rPr lang="en-US" sz="1400" b="1" spc="400" kern="0" dirty="0">
                <a:solidFill>
                  <a:srgbClr val="3DB4A5"/>
                </a:solidFill>
                <a:latin typeface="Calibri" pitchFamily="34" charset="0"/>
                <a:ea typeface="Calibri" pitchFamily="34" charset="-122"/>
                <a:cs typeface="Calibri" pitchFamily="34" charset="-120"/>
              </a:rPr>
              <a:t>FINAL YEAR PROJECT</a:t>
            </a:r>
            <a:endParaRPr lang="en-US" sz="1400" dirty="0"/>
          </a:p>
        </p:txBody>
      </p:sp>
      <p:sp>
        <p:nvSpPr>
          <p:cNvPr id="3" name="Text 1"/>
          <p:cNvSpPr txBox="1"/>
          <p:nvPr/>
        </p:nvSpPr>
        <p:spPr>
          <a:xfrm>
            <a:off x="548640" y="1371600"/>
            <a:ext cx="7589520" cy="17373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Real-Time Cyber-Attack Detection for a Water Treatment ICS</a:t>
            </a:r>
            <a:endParaRPr lang="en-US" sz="4000" dirty="0"/>
          </a:p>
        </p:txBody>
      </p:sp>
      <p:sp>
        <p:nvSpPr>
          <p:cNvPr id="4" name="Text 2"/>
          <p:cNvSpPr txBox="1"/>
          <p:nvPr/>
        </p:nvSpPr>
        <p:spPr>
          <a:xfrm>
            <a:off x="548640" y="3383280"/>
            <a:ext cx="7315200" cy="731520"/>
          </a:xfrm>
          <a:prstGeom prst="rect">
            <a:avLst/>
          </a:prstGeom>
          <a:noFill/>
          <a:ln/>
        </p:spPr>
        <p:txBody>
          <a:bodyPr wrap="square" lIns="0" tIns="0" rIns="0" bIns="0" rtlCol="0" anchor="ctr"/>
          <a:lstStyle/>
          <a:p>
            <a:pPr indent="0" marL="0">
              <a:buNone/>
            </a:pPr>
            <a:r>
              <a:rPr lang="en-US" sz="1800" i="1" dirty="0">
                <a:solidFill>
                  <a:srgbClr val="C9D6E3"/>
                </a:solidFill>
                <a:latin typeface="Calibri" pitchFamily="34" charset="0"/>
                <a:ea typeface="Calibri" pitchFamily="34" charset="-122"/>
                <a:cs typeface="Calibri" pitchFamily="34" charset="-120"/>
              </a:rPr>
              <a:t>A protocol-aware and deep-learning detection-in-depth framework with tamper-evident logging</a:t>
            </a:r>
            <a:endParaRPr lang="en-US" sz="1800" dirty="0"/>
          </a:p>
        </p:txBody>
      </p:sp>
      <p:sp>
        <p:nvSpPr>
          <p:cNvPr id="5" name="Text 3"/>
          <p:cNvSpPr txBox="1"/>
          <p:nvPr/>
        </p:nvSpPr>
        <p:spPr>
          <a:xfrm>
            <a:off x="548640" y="4709160"/>
            <a:ext cx="7589520" cy="1188720"/>
          </a:xfrm>
          <a:prstGeom prst="rect">
            <a:avLst/>
          </a:prstGeom>
          <a:noFill/>
          <a:ln/>
        </p:spPr>
        <p:txBody>
          <a:bodyPr wrap="square" lIns="0" tIns="0" rIns="0" bIns="0" rtlCol="0" anchor="ctr"/>
          <a:lstStyle/>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[Member Name 1]  ·  [Member Name 2]  ·  [Member Name 3]  ·  [Member Name 4]</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Supervisor: [Supervisor Name]</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[University Name]  ·  [Month Year]</a:t>
            </a:r>
            <a:endParaRPr lang="en-US" sz="1500" dirty="0"/>
          </a:p>
        </p:txBody>
      </p:sp>
      <p:sp>
        <p:nvSpPr>
          <p:cNvPr id="6" name="Shape 4"/>
          <p:cNvSpPr/>
          <p:nvPr/>
        </p:nvSpPr>
        <p:spPr>
          <a:xfrm>
            <a:off x="8549640" y="1417320"/>
            <a:ext cx="2651760" cy="2651760"/>
          </a:xfrm>
          <a:prstGeom prst="ellipse">
            <a:avLst/>
          </a:prstGeom>
          <a:solidFill>
            <a:srgbClr val="13678A"/>
          </a:solidFill>
          <a:ln w="12700">
            <a:solidFill>
              <a:srgbClr val="13678A"/>
            </a:solidFill>
            <a:prstDash val="solid"/>
          </a:ln>
        </p:spPr>
      </p:sp>
      <p:pic>
        <p:nvPicPr>
          <p:cNvPr id="7" name="Image 0" descr="preencoded.png">    </p:cNvPr>
          <p:cNvPicPr>
            <a:picLocks noChangeAspect="1"/>
          </p:cNvPicPr>
          <p:nvPr/>
        </p:nvPicPr>
        <p:blipFill>
          <a:blip r:embed="rId1"/>
          <a:stretch>
            <a:fillRect/>
          </a:stretch>
        </p:blipFill>
        <p:spPr>
          <a:xfrm>
            <a:off x="9186062" y="2053742"/>
            <a:ext cx="1378915" cy="1378915"/>
          </a:xfrm>
          <a:prstGeom prst="rect">
            <a:avLst/>
          </a:prstGeom>
        </p:spPr>
      </p:pic>
      <p:sp>
        <p:nvSpPr>
          <p:cNvPr id="8" name="Shape 5"/>
          <p:cNvSpPr/>
          <p:nvPr/>
        </p:nvSpPr>
        <p:spPr>
          <a:xfrm>
            <a:off x="10104120" y="3337560"/>
            <a:ext cx="1325880" cy="1325880"/>
          </a:xfrm>
          <a:prstGeom prst="ellipse">
            <a:avLst/>
          </a:prstGeom>
          <a:solidFill>
            <a:srgbClr val="D64545"/>
          </a:solidFill>
          <a:ln w="12700">
            <a:solidFill>
              <a:srgbClr val="D64545"/>
            </a:solidFill>
            <a:prstDash val="solid"/>
          </a:ln>
        </p:spPr>
      </p:sp>
      <p:pic>
        <p:nvPicPr>
          <p:cNvPr id="9" name="Image 1" descr="preencoded.png">    </p:cNvPr>
          <p:cNvPicPr>
            <a:picLocks noChangeAspect="1"/>
          </p:cNvPicPr>
          <p:nvPr/>
        </p:nvPicPr>
        <p:blipFill>
          <a:blip r:embed="rId2"/>
          <a:stretch>
            <a:fillRect/>
          </a:stretch>
        </p:blipFill>
        <p:spPr>
          <a:xfrm>
            <a:off x="10422331" y="3655771"/>
            <a:ext cx="689458" cy="68945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3152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Industrial protocols trust anyone on the network</a:t>
            </a:r>
            <a:endParaRPr lang="en-US" sz="3200" dirty="0"/>
          </a:p>
        </p:txBody>
      </p:sp>
      <p:sp>
        <p:nvSpPr>
          <p:cNvPr id="3" name="Text 1"/>
          <p:cNvSpPr txBox="1"/>
          <p:nvPr/>
        </p:nvSpPr>
        <p:spPr>
          <a:xfrm>
            <a:off x="548640" y="1371600"/>
            <a:ext cx="4937760" cy="4754880"/>
          </a:xfrm>
          <a:prstGeom prst="rect">
            <a:avLst/>
          </a:prstGeom>
          <a:noFill/>
          <a:ln/>
        </p:spPr>
        <p:txBody>
          <a:bodyPr wrap="square" lIns="0" tIns="0" rIns="0" bIns="0" rtlCol="0" anchor="t"/>
          <a:lstStyle/>
          <a:p>
            <a:pPr marL="342900" indent="-342900">
              <a:spcAft>
                <a:spcPts val="800"/>
              </a:spcAft>
              <a:buSzPct val="100000"/>
              <a:buChar char="•"/>
            </a:pPr>
            <a:r>
              <a:rPr lang="en-US" sz="1900" dirty="0">
                <a:solidFill>
                  <a:srgbClr val="1B263B"/>
                </a:solidFill>
                <a:latin typeface="Calibri" pitchFamily="34" charset="0"/>
                <a:ea typeface="Calibri" pitchFamily="34" charset="-122"/>
                <a:cs typeface="Calibri" pitchFamily="34" charset="-120"/>
              </a:rPr>
              <a:t>Plants are run by PLCs that read sensors and switch pumps and valves over protocols such as Modbus, EtherNet/IP and DNP3.</a:t>
            </a:r>
            <a:endParaRPr lang="en-US" sz="1900" dirty="0"/>
          </a:p>
          <a:p>
            <a:pPr marL="342900" indent="-342900">
              <a:spcAft>
                <a:spcPts val="800"/>
              </a:spcAft>
              <a:buSzPct val="100000"/>
              <a:buChar char="•"/>
            </a:pPr>
            <a:r>
              <a:rPr lang="en-US" sz="1900" dirty="0">
                <a:solidFill>
                  <a:srgbClr val="1B263B"/>
                </a:solidFill>
                <a:latin typeface="Calibri" pitchFamily="34" charset="0"/>
                <a:ea typeface="Calibri" pitchFamily="34" charset="-122"/>
                <a:cs typeface="Calibri" pitchFamily="34" charset="-120"/>
              </a:rPr>
              <a:t>These protocols have no authentication: a PLC obeys any well-formed request from any host that can reach it.</a:t>
            </a:r>
            <a:endParaRPr lang="en-US" sz="1900" dirty="0"/>
          </a:p>
          <a:p>
            <a:pPr marL="342900" indent="-342900">
              <a:spcAft>
                <a:spcPts val="800"/>
              </a:spcAft>
              <a:buSzPct val="100000"/>
              <a:buChar char="•"/>
            </a:pPr>
            <a:r>
              <a:rPr lang="en-US" sz="1900" dirty="0">
                <a:solidFill>
                  <a:srgbClr val="1B263B"/>
                </a:solidFill>
                <a:latin typeface="Calibri" pitchFamily="34" charset="0"/>
                <a:ea typeface="Calibri" pitchFamily="34" charset="-122"/>
                <a:cs typeface="Calibri" pitchFamily="34" charset="-120"/>
              </a:rPr>
              <a:t>An attacker on the control network can fake sensor readings, send unauthorised commands, replay old commands or flood the PLC.</a:t>
            </a:r>
            <a:endParaRPr lang="en-US" sz="1900" dirty="0"/>
          </a:p>
        </p:txBody>
      </p:sp>
      <p:sp>
        <p:nvSpPr>
          <p:cNvPr id="4" name="Shape 2"/>
          <p:cNvSpPr/>
          <p:nvPr/>
        </p:nvSpPr>
        <p:spPr>
          <a:xfrm>
            <a:off x="5989320" y="1371600"/>
            <a:ext cx="2697480" cy="2240280"/>
          </a:xfrm>
          <a:prstGeom prst="roundRect">
            <a:avLst>
              <a:gd name="adj" fmla="val 3265"/>
            </a:avLst>
          </a:prstGeom>
          <a:solidFill>
            <a:srgbClr val="F1F6F8"/>
          </a:solidFill>
          <a:ln w="12700">
            <a:solidFill>
              <a:srgbClr val="F1F6F8"/>
            </a:solidFill>
            <a:prstDash val="solid"/>
          </a:ln>
        </p:spPr>
      </p:sp>
      <p:sp>
        <p:nvSpPr>
          <p:cNvPr id="5" name="Shape 3"/>
          <p:cNvSpPr/>
          <p:nvPr/>
        </p:nvSpPr>
        <p:spPr>
          <a:xfrm>
            <a:off x="6217920" y="1600200"/>
            <a:ext cx="566928" cy="566928"/>
          </a:xfrm>
          <a:prstGeom prst="ellipse">
            <a:avLst/>
          </a:prstGeom>
          <a:solidFill>
            <a:srgbClr val="D64545"/>
          </a:solidFill>
          <a:ln w="12700">
            <a:solidFill>
              <a:srgbClr val="D64545"/>
            </a:solidFill>
            <a:prstDash val="solid"/>
          </a:ln>
        </p:spPr>
      </p:sp>
      <p:pic>
        <p:nvPicPr>
          <p:cNvPr id="6" name="Image 0" descr="preencoded.png">    </p:cNvPr>
          <p:cNvPicPr>
            <a:picLocks noChangeAspect="1"/>
          </p:cNvPicPr>
          <p:nvPr/>
        </p:nvPicPr>
        <p:blipFill>
          <a:blip r:embed="rId1"/>
          <a:stretch>
            <a:fillRect/>
          </a:stretch>
        </p:blipFill>
        <p:spPr>
          <a:xfrm>
            <a:off x="6353983" y="1736263"/>
            <a:ext cx="294803" cy="294803"/>
          </a:xfrm>
          <a:prstGeom prst="rect">
            <a:avLst/>
          </a:prstGeom>
        </p:spPr>
      </p:pic>
      <p:sp>
        <p:nvSpPr>
          <p:cNvPr id="7" name="Text 4"/>
          <p:cNvSpPr txBox="1"/>
          <p:nvPr/>
        </p:nvSpPr>
        <p:spPr>
          <a:xfrm>
            <a:off x="6217920" y="2267712"/>
            <a:ext cx="2286000" cy="365760"/>
          </a:xfrm>
          <a:prstGeom prst="rect">
            <a:avLst/>
          </a:prstGeom>
          <a:noFill/>
          <a:ln/>
        </p:spPr>
        <p:txBody>
          <a:bodyPr wrap="square" lIns="0" tIns="0" rIns="0" bIns="0" rtlCol="0" anchor="ctr"/>
          <a:lstStyle/>
          <a:p>
            <a:pPr indent="0" marL="0">
              <a:buNone/>
            </a:pPr>
            <a:r>
              <a:rPr lang="en-US" sz="1600" b="1" dirty="0">
                <a:solidFill>
                  <a:srgbClr val="1B263B"/>
                </a:solidFill>
                <a:latin typeface="Calibri" pitchFamily="34" charset="0"/>
                <a:ea typeface="Calibri" pitchFamily="34" charset="-122"/>
                <a:cs typeface="Calibri" pitchFamily="34" charset="-120"/>
              </a:rPr>
              <a:t>Stuxnet</a:t>
            </a:r>
            <a:endParaRPr lang="en-US" sz="1600" dirty="0"/>
          </a:p>
        </p:txBody>
      </p:sp>
      <p:sp>
        <p:nvSpPr>
          <p:cNvPr id="8" name="Text 5"/>
          <p:cNvSpPr txBox="1"/>
          <p:nvPr/>
        </p:nvSpPr>
        <p:spPr>
          <a:xfrm>
            <a:off x="6217920" y="2651760"/>
            <a:ext cx="2286000" cy="822960"/>
          </a:xfrm>
          <a:prstGeom prst="rect">
            <a:avLst/>
          </a:prstGeom>
          <a:noFill/>
          <a:ln/>
        </p:spPr>
        <p:txBody>
          <a:bodyPr wrap="square" lIns="0" tIns="0" rIns="0" bIns="0" rtlCol="0" anchor="t"/>
          <a:lstStyle/>
          <a:p>
            <a:pPr indent="0" marL="0">
              <a:buNone/>
            </a:pPr>
            <a:r>
              <a:rPr lang="en-US" sz="1400" dirty="0">
                <a:solidFill>
                  <a:srgbClr val="5C6B7A"/>
                </a:solidFill>
                <a:latin typeface="Calibri" pitchFamily="34" charset="0"/>
                <a:ea typeface="Calibri" pitchFamily="34" charset="-122"/>
                <a:cs typeface="Calibri" pitchFamily="34" charset="-120"/>
              </a:rPr>
              <a:t>Altered PLC logic while showing operators normal-looking data</a:t>
            </a:r>
            <a:endParaRPr lang="en-US" sz="1400" dirty="0"/>
          </a:p>
        </p:txBody>
      </p:sp>
      <p:sp>
        <p:nvSpPr>
          <p:cNvPr id="9" name="Shape 6"/>
          <p:cNvSpPr/>
          <p:nvPr/>
        </p:nvSpPr>
        <p:spPr>
          <a:xfrm>
            <a:off x="8915400" y="1371600"/>
            <a:ext cx="2697480" cy="2240280"/>
          </a:xfrm>
          <a:prstGeom prst="roundRect">
            <a:avLst>
              <a:gd name="adj" fmla="val 3265"/>
            </a:avLst>
          </a:prstGeom>
          <a:solidFill>
            <a:srgbClr val="F1F6F8"/>
          </a:solidFill>
          <a:ln w="12700">
            <a:solidFill>
              <a:srgbClr val="F1F6F8"/>
            </a:solidFill>
            <a:prstDash val="solid"/>
          </a:ln>
        </p:spPr>
      </p:sp>
      <p:sp>
        <p:nvSpPr>
          <p:cNvPr id="10" name="Shape 7"/>
          <p:cNvSpPr/>
          <p:nvPr/>
        </p:nvSpPr>
        <p:spPr>
          <a:xfrm>
            <a:off x="9144000" y="1600200"/>
            <a:ext cx="566928" cy="566928"/>
          </a:xfrm>
          <a:prstGeom prst="ellipse">
            <a:avLst/>
          </a:prstGeom>
          <a:solidFill>
            <a:srgbClr val="D64545"/>
          </a:solidFill>
          <a:ln w="12700">
            <a:solidFill>
              <a:srgbClr val="D64545"/>
            </a:solidFill>
            <a:prstDash val="solid"/>
          </a:ln>
        </p:spPr>
      </p:sp>
      <p:pic>
        <p:nvPicPr>
          <p:cNvPr id="11" name="Image 1" descr="preencoded.png">    </p:cNvPr>
          <p:cNvPicPr>
            <a:picLocks noChangeAspect="1"/>
          </p:cNvPicPr>
          <p:nvPr/>
        </p:nvPicPr>
        <p:blipFill>
          <a:blip r:embed="rId2"/>
          <a:stretch>
            <a:fillRect/>
          </a:stretch>
        </p:blipFill>
        <p:spPr>
          <a:xfrm>
            <a:off x="9280063" y="1736263"/>
            <a:ext cx="294803" cy="294803"/>
          </a:xfrm>
          <a:prstGeom prst="rect">
            <a:avLst/>
          </a:prstGeom>
        </p:spPr>
      </p:pic>
      <p:sp>
        <p:nvSpPr>
          <p:cNvPr id="12" name="Text 8"/>
          <p:cNvSpPr txBox="1"/>
          <p:nvPr/>
        </p:nvSpPr>
        <p:spPr>
          <a:xfrm>
            <a:off x="9144000" y="2267712"/>
            <a:ext cx="2286000" cy="365760"/>
          </a:xfrm>
          <a:prstGeom prst="rect">
            <a:avLst/>
          </a:prstGeom>
          <a:noFill/>
          <a:ln/>
        </p:spPr>
        <p:txBody>
          <a:bodyPr wrap="square" lIns="0" tIns="0" rIns="0" bIns="0" rtlCol="0" anchor="ctr"/>
          <a:lstStyle/>
          <a:p>
            <a:pPr indent="0" marL="0">
              <a:buNone/>
            </a:pPr>
            <a:r>
              <a:rPr lang="en-US" sz="1600" b="1" dirty="0">
                <a:solidFill>
                  <a:srgbClr val="1B263B"/>
                </a:solidFill>
                <a:latin typeface="Calibri" pitchFamily="34" charset="0"/>
                <a:ea typeface="Calibri" pitchFamily="34" charset="-122"/>
                <a:cs typeface="Calibri" pitchFamily="34" charset="-120"/>
              </a:rPr>
              <a:t>Ukraine grid, 2015–16</a:t>
            </a:r>
            <a:endParaRPr lang="en-US" sz="1600" dirty="0"/>
          </a:p>
        </p:txBody>
      </p:sp>
      <p:sp>
        <p:nvSpPr>
          <p:cNvPr id="13" name="Text 9"/>
          <p:cNvSpPr txBox="1"/>
          <p:nvPr/>
        </p:nvSpPr>
        <p:spPr>
          <a:xfrm>
            <a:off x="9144000" y="2651760"/>
            <a:ext cx="2286000" cy="822960"/>
          </a:xfrm>
          <a:prstGeom prst="rect">
            <a:avLst/>
          </a:prstGeom>
          <a:noFill/>
          <a:ln/>
        </p:spPr>
        <p:txBody>
          <a:bodyPr wrap="square" lIns="0" tIns="0" rIns="0" bIns="0" rtlCol="0" anchor="t"/>
          <a:lstStyle/>
          <a:p>
            <a:pPr indent="0" marL="0">
              <a:buNone/>
            </a:pPr>
            <a:r>
              <a:rPr lang="en-US" sz="1400" dirty="0">
                <a:solidFill>
                  <a:srgbClr val="5C6B7A"/>
                </a:solidFill>
                <a:latin typeface="Calibri" pitchFamily="34" charset="0"/>
                <a:ea typeface="Calibri" pitchFamily="34" charset="-122"/>
                <a:cs typeface="Calibri" pitchFamily="34" charset="-120"/>
              </a:rPr>
              <a:t>Attackers opened breakers and cut power</a:t>
            </a:r>
            <a:endParaRPr lang="en-US" sz="1400" dirty="0"/>
          </a:p>
        </p:txBody>
      </p:sp>
      <p:sp>
        <p:nvSpPr>
          <p:cNvPr id="14" name="Shape 10"/>
          <p:cNvSpPr/>
          <p:nvPr/>
        </p:nvSpPr>
        <p:spPr>
          <a:xfrm>
            <a:off x="5989320" y="3840480"/>
            <a:ext cx="2697480" cy="2240280"/>
          </a:xfrm>
          <a:prstGeom prst="roundRect">
            <a:avLst>
              <a:gd name="adj" fmla="val 3265"/>
            </a:avLst>
          </a:prstGeom>
          <a:solidFill>
            <a:srgbClr val="F1F6F8"/>
          </a:solidFill>
          <a:ln w="12700">
            <a:solidFill>
              <a:srgbClr val="F1F6F8"/>
            </a:solidFill>
            <a:prstDash val="solid"/>
          </a:ln>
        </p:spPr>
      </p:sp>
      <p:sp>
        <p:nvSpPr>
          <p:cNvPr id="15" name="Shape 11"/>
          <p:cNvSpPr/>
          <p:nvPr/>
        </p:nvSpPr>
        <p:spPr>
          <a:xfrm>
            <a:off x="6217920" y="4069080"/>
            <a:ext cx="566928" cy="566928"/>
          </a:xfrm>
          <a:prstGeom prst="ellipse">
            <a:avLst/>
          </a:prstGeom>
          <a:solidFill>
            <a:srgbClr val="D64545"/>
          </a:solidFill>
          <a:ln w="12700">
            <a:solidFill>
              <a:srgbClr val="D64545"/>
            </a:solidFill>
            <a:prstDash val="solid"/>
          </a:ln>
        </p:spPr>
      </p:sp>
      <p:pic>
        <p:nvPicPr>
          <p:cNvPr id="16" name="Image 2" descr="preencoded.png">    </p:cNvPr>
          <p:cNvPicPr>
            <a:picLocks noChangeAspect="1"/>
          </p:cNvPicPr>
          <p:nvPr/>
        </p:nvPicPr>
        <p:blipFill>
          <a:blip r:embed="rId3"/>
          <a:stretch>
            <a:fillRect/>
          </a:stretch>
        </p:blipFill>
        <p:spPr>
          <a:xfrm>
            <a:off x="6353983" y="4205143"/>
            <a:ext cx="294803" cy="294803"/>
          </a:xfrm>
          <a:prstGeom prst="rect">
            <a:avLst/>
          </a:prstGeom>
        </p:spPr>
      </p:pic>
      <p:sp>
        <p:nvSpPr>
          <p:cNvPr id="17" name="Text 12"/>
          <p:cNvSpPr txBox="1"/>
          <p:nvPr/>
        </p:nvSpPr>
        <p:spPr>
          <a:xfrm>
            <a:off x="6217920" y="4736592"/>
            <a:ext cx="2286000" cy="365760"/>
          </a:xfrm>
          <a:prstGeom prst="rect">
            <a:avLst/>
          </a:prstGeom>
          <a:noFill/>
          <a:ln/>
        </p:spPr>
        <p:txBody>
          <a:bodyPr wrap="square" lIns="0" tIns="0" rIns="0" bIns="0" rtlCol="0" anchor="ctr"/>
          <a:lstStyle/>
          <a:p>
            <a:pPr indent="0" marL="0">
              <a:buNone/>
            </a:pPr>
            <a:r>
              <a:rPr lang="en-US" sz="1600" b="1" dirty="0">
                <a:solidFill>
                  <a:srgbClr val="1B263B"/>
                </a:solidFill>
                <a:latin typeface="Calibri" pitchFamily="34" charset="0"/>
                <a:ea typeface="Calibri" pitchFamily="34" charset="-122"/>
                <a:cs typeface="Calibri" pitchFamily="34" charset="-120"/>
              </a:rPr>
              <a:t>Oldsmar, Florida, 2021</a:t>
            </a:r>
            <a:endParaRPr lang="en-US" sz="1600" dirty="0"/>
          </a:p>
        </p:txBody>
      </p:sp>
      <p:sp>
        <p:nvSpPr>
          <p:cNvPr id="18" name="Text 13"/>
          <p:cNvSpPr txBox="1"/>
          <p:nvPr/>
        </p:nvSpPr>
        <p:spPr>
          <a:xfrm>
            <a:off x="6217920" y="5120640"/>
            <a:ext cx="2286000" cy="822960"/>
          </a:xfrm>
          <a:prstGeom prst="rect">
            <a:avLst/>
          </a:prstGeom>
          <a:noFill/>
          <a:ln/>
        </p:spPr>
        <p:txBody>
          <a:bodyPr wrap="square" lIns="0" tIns="0" rIns="0" bIns="0" rtlCol="0" anchor="t"/>
          <a:lstStyle/>
          <a:p>
            <a:pPr indent="0" marL="0">
              <a:buNone/>
            </a:pPr>
            <a:r>
              <a:rPr lang="en-US" sz="1400" dirty="0">
                <a:solidFill>
                  <a:srgbClr val="5C6B7A"/>
                </a:solidFill>
                <a:latin typeface="Calibri" pitchFamily="34" charset="0"/>
                <a:ea typeface="Calibri" pitchFamily="34" charset="-122"/>
                <a:cs typeface="Calibri" pitchFamily="34" charset="-120"/>
              </a:rPr>
              <a:t>Remote access to a water plant's controls</a:t>
            </a:r>
            <a:endParaRPr lang="en-US" sz="1400" dirty="0"/>
          </a:p>
        </p:txBody>
      </p:sp>
      <p:sp>
        <p:nvSpPr>
          <p:cNvPr id="19" name="Shape 14"/>
          <p:cNvSpPr/>
          <p:nvPr/>
        </p:nvSpPr>
        <p:spPr>
          <a:xfrm>
            <a:off x="8915400" y="3840480"/>
            <a:ext cx="2697480" cy="2240280"/>
          </a:xfrm>
          <a:prstGeom prst="roundRect">
            <a:avLst>
              <a:gd name="adj" fmla="val 3265"/>
            </a:avLst>
          </a:prstGeom>
          <a:solidFill>
            <a:srgbClr val="F1F6F8"/>
          </a:solidFill>
          <a:ln w="12700">
            <a:solidFill>
              <a:srgbClr val="F1F6F8"/>
            </a:solidFill>
            <a:prstDash val="solid"/>
          </a:ln>
        </p:spPr>
      </p:sp>
      <p:sp>
        <p:nvSpPr>
          <p:cNvPr id="20" name="Shape 15"/>
          <p:cNvSpPr/>
          <p:nvPr/>
        </p:nvSpPr>
        <p:spPr>
          <a:xfrm>
            <a:off x="9144000" y="4069080"/>
            <a:ext cx="566928" cy="566928"/>
          </a:xfrm>
          <a:prstGeom prst="ellipse">
            <a:avLst/>
          </a:prstGeom>
          <a:solidFill>
            <a:srgbClr val="D64545"/>
          </a:solidFill>
          <a:ln w="12700">
            <a:solidFill>
              <a:srgbClr val="D64545"/>
            </a:solidFill>
            <a:prstDash val="solid"/>
          </a:ln>
        </p:spPr>
      </p:sp>
      <p:pic>
        <p:nvPicPr>
          <p:cNvPr id="21" name="Image 3" descr="preencoded.png">    </p:cNvPr>
          <p:cNvPicPr>
            <a:picLocks noChangeAspect="1"/>
          </p:cNvPicPr>
          <p:nvPr/>
        </p:nvPicPr>
        <p:blipFill>
          <a:blip r:embed="rId4"/>
          <a:stretch>
            <a:fillRect/>
          </a:stretch>
        </p:blipFill>
        <p:spPr>
          <a:xfrm>
            <a:off x="9280063" y="4205143"/>
            <a:ext cx="294803" cy="294803"/>
          </a:xfrm>
          <a:prstGeom prst="rect">
            <a:avLst/>
          </a:prstGeom>
        </p:spPr>
      </p:pic>
      <p:sp>
        <p:nvSpPr>
          <p:cNvPr id="22" name="Text 16"/>
          <p:cNvSpPr txBox="1"/>
          <p:nvPr/>
        </p:nvSpPr>
        <p:spPr>
          <a:xfrm>
            <a:off x="9144000" y="4736592"/>
            <a:ext cx="2286000" cy="365760"/>
          </a:xfrm>
          <a:prstGeom prst="rect">
            <a:avLst/>
          </a:prstGeom>
          <a:noFill/>
          <a:ln/>
        </p:spPr>
        <p:txBody>
          <a:bodyPr wrap="square" lIns="0" tIns="0" rIns="0" bIns="0" rtlCol="0" anchor="ctr"/>
          <a:lstStyle/>
          <a:p>
            <a:pPr indent="0" marL="0">
              <a:buNone/>
            </a:pPr>
            <a:r>
              <a:rPr lang="en-US" sz="1600" b="1" dirty="0">
                <a:solidFill>
                  <a:srgbClr val="1B263B"/>
                </a:solidFill>
                <a:latin typeface="Calibri" pitchFamily="34" charset="0"/>
                <a:ea typeface="Calibri" pitchFamily="34" charset="-122"/>
                <a:cs typeface="Calibri" pitchFamily="34" charset="-120"/>
              </a:rPr>
              <a:t>Muleshoe, Texas, 2024</a:t>
            </a:r>
            <a:endParaRPr lang="en-US" sz="1600" dirty="0"/>
          </a:p>
        </p:txBody>
      </p:sp>
      <p:sp>
        <p:nvSpPr>
          <p:cNvPr id="23" name="Text 17"/>
          <p:cNvSpPr txBox="1"/>
          <p:nvPr/>
        </p:nvSpPr>
        <p:spPr>
          <a:xfrm>
            <a:off x="9144000" y="5120640"/>
            <a:ext cx="2286000" cy="822960"/>
          </a:xfrm>
          <a:prstGeom prst="rect">
            <a:avLst/>
          </a:prstGeom>
          <a:noFill/>
          <a:ln/>
        </p:spPr>
        <p:txBody>
          <a:bodyPr wrap="square" lIns="0" tIns="0" rIns="0" bIns="0" rtlCol="0" anchor="t"/>
          <a:lstStyle/>
          <a:p>
            <a:pPr indent="0" marL="0">
              <a:buNone/>
            </a:pPr>
            <a:r>
              <a:rPr lang="en-US" sz="1400" dirty="0">
                <a:solidFill>
                  <a:srgbClr val="5C6B7A"/>
                </a:solidFill>
                <a:latin typeface="Calibri" pitchFamily="34" charset="0"/>
                <a:ea typeface="Calibri" pitchFamily="34" charset="-122"/>
                <a:cs typeface="Calibri" pitchFamily="34" charset="-120"/>
              </a:rPr>
              <a:t>Intrusion into a water facility's controls</a:t>
            </a:r>
            <a:endParaRPr lang="en-US" sz="1400" dirty="0"/>
          </a:p>
        </p:txBody>
      </p:sp>
      <p:sp>
        <p:nvSpPr>
          <p:cNvPr id="24" name="Text 18"/>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8A97A6"/>
                </a:solidFill>
                <a:latin typeface="Calibri" pitchFamily="34" charset="0"/>
                <a:ea typeface="Calibri" pitchFamily="34" charset="-122"/>
                <a:cs typeface="Calibri" pitchFamily="34" charset="-120"/>
              </a:rPr>
              <a:t>2 / 15</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3152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Our approach: detection in depth</a:t>
            </a:r>
            <a:endParaRPr lang="en-US" sz="3200" dirty="0"/>
          </a:p>
        </p:txBody>
      </p:sp>
      <p:sp>
        <p:nvSpPr>
          <p:cNvPr id="3" name="Text 1"/>
          <p:cNvSpPr txBox="1"/>
          <p:nvPr/>
        </p:nvSpPr>
        <p:spPr>
          <a:xfrm>
            <a:off x="548640" y="1042416"/>
            <a:ext cx="11094415" cy="411480"/>
          </a:xfrm>
          <a:prstGeom prst="rect">
            <a:avLst/>
          </a:prstGeom>
          <a:noFill/>
          <a:ln/>
        </p:spPr>
        <p:txBody>
          <a:bodyPr wrap="square" lIns="0" tIns="0" rIns="0" bIns="0" rtlCol="0" anchor="ctr"/>
          <a:lstStyle/>
          <a:p>
            <a:pPr indent="0" marL="0">
              <a:buNone/>
            </a:pPr>
            <a:r>
              <a:rPr lang="en-US" sz="1600" dirty="0">
                <a:solidFill>
                  <a:srgbClr val="5C6B7A"/>
                </a:solidFill>
                <a:latin typeface="Calibri" pitchFamily="34" charset="0"/>
                <a:ea typeface="Calibri" pitchFamily="34" charset="-122"/>
                <a:cs typeface="Calibri" pitchFamily="34" charset="-120"/>
              </a:rPr>
              <a:t>Each layer covers attacks the others cannot see</a:t>
            </a:r>
            <a:endParaRPr lang="en-US" sz="1600" dirty="0"/>
          </a:p>
        </p:txBody>
      </p:sp>
      <p:sp>
        <p:nvSpPr>
          <p:cNvPr id="4" name="Shape 2"/>
          <p:cNvSpPr/>
          <p:nvPr/>
        </p:nvSpPr>
        <p:spPr>
          <a:xfrm>
            <a:off x="548640" y="1783080"/>
            <a:ext cx="2615184" cy="3063240"/>
          </a:xfrm>
          <a:prstGeom prst="roundRect">
            <a:avLst>
              <a:gd name="adj" fmla="val 2797"/>
            </a:avLst>
          </a:prstGeom>
          <a:solidFill>
            <a:srgbClr val="F1F6F8"/>
          </a:solidFill>
          <a:ln w="12700">
            <a:solidFill>
              <a:srgbClr val="F1F6F8"/>
            </a:solidFill>
            <a:prstDash val="solid"/>
          </a:ln>
        </p:spPr>
      </p:sp>
      <p:sp>
        <p:nvSpPr>
          <p:cNvPr id="5" name="Shape 3"/>
          <p:cNvSpPr/>
          <p:nvPr/>
        </p:nvSpPr>
        <p:spPr>
          <a:xfrm>
            <a:off x="1417320" y="2103120"/>
            <a:ext cx="868680" cy="868680"/>
          </a:xfrm>
          <a:prstGeom prst="ellipse">
            <a:avLst/>
          </a:prstGeom>
          <a:solidFill>
            <a:srgbClr val="13678A"/>
          </a:solidFill>
          <a:ln w="12700">
            <a:solidFill>
              <a:srgbClr val="13678A"/>
            </a:solidFill>
            <a:prstDash val="solid"/>
          </a:ln>
        </p:spPr>
      </p:sp>
      <p:pic>
        <p:nvPicPr>
          <p:cNvPr id="6" name="Image 0" descr="preencoded.png">    </p:cNvPr>
          <p:cNvPicPr>
            <a:picLocks noChangeAspect="1"/>
          </p:cNvPicPr>
          <p:nvPr/>
        </p:nvPicPr>
        <p:blipFill>
          <a:blip r:embed="rId1"/>
          <a:stretch>
            <a:fillRect/>
          </a:stretch>
        </p:blipFill>
        <p:spPr>
          <a:xfrm>
            <a:off x="1625803" y="2311603"/>
            <a:ext cx="451714" cy="451714"/>
          </a:xfrm>
          <a:prstGeom prst="rect">
            <a:avLst/>
          </a:prstGeom>
        </p:spPr>
      </p:pic>
      <p:sp>
        <p:nvSpPr>
          <p:cNvPr id="7" name="Text 4"/>
          <p:cNvSpPr txBox="1"/>
          <p:nvPr/>
        </p:nvSpPr>
        <p:spPr>
          <a:xfrm>
            <a:off x="731520" y="3154680"/>
            <a:ext cx="2249424" cy="457200"/>
          </a:xfrm>
          <a:prstGeom prst="rect">
            <a:avLst/>
          </a:prstGeom>
          <a:noFill/>
          <a:ln/>
        </p:spPr>
        <p:txBody>
          <a:bodyPr wrap="square" lIns="0" tIns="0" rIns="0" bIns="0" rtlCol="0" anchor="ctr"/>
          <a:lstStyle/>
          <a:p>
            <a:pPr algn="ctr" indent="0" marL="0">
              <a:buNone/>
            </a:pPr>
            <a:r>
              <a:rPr lang="en-US" sz="1700" b="1" dirty="0">
                <a:solidFill>
                  <a:srgbClr val="1B263B"/>
                </a:solidFill>
                <a:latin typeface="Calibri" pitchFamily="34" charset="0"/>
                <a:ea typeface="Calibri" pitchFamily="34" charset="-122"/>
                <a:cs typeface="Calibri" pitchFamily="34" charset="-120"/>
              </a:rPr>
              <a:t>DPI rule engine</a:t>
            </a:r>
            <a:endParaRPr lang="en-US" sz="1700" dirty="0"/>
          </a:p>
        </p:txBody>
      </p:sp>
      <p:sp>
        <p:nvSpPr>
          <p:cNvPr id="8" name="Text 5"/>
          <p:cNvSpPr txBox="1"/>
          <p:nvPr/>
        </p:nvSpPr>
        <p:spPr>
          <a:xfrm>
            <a:off x="731520" y="3657600"/>
            <a:ext cx="2249424" cy="1005840"/>
          </a:xfrm>
          <a:prstGeom prst="rect">
            <a:avLst/>
          </a:prstGeom>
          <a:noFill/>
          <a:ln/>
        </p:spPr>
        <p:txBody>
          <a:bodyPr wrap="square" lIns="0" tIns="0" rIns="0" bIns="0" rtlCol="0" anchor="t"/>
          <a:lstStyle/>
          <a:p>
            <a:pPr algn="ctr" indent="0" marL="0">
              <a:buNone/>
            </a:pPr>
            <a:r>
              <a:rPr lang="en-US" sz="1300" dirty="0">
                <a:solidFill>
                  <a:srgbClr val="5C6B7A"/>
                </a:solidFill>
                <a:latin typeface="Calibri" pitchFamily="34" charset="0"/>
                <a:ea typeface="Calibri" pitchFamily="34" charset="-122"/>
                <a:cs typeface="Calibri" pitchFamily="34" charset="-120"/>
              </a:rPr>
              <a:t>Decodes every Modbus write and names the source, device and value</a:t>
            </a:r>
            <a:endParaRPr lang="en-US" sz="1300" dirty="0"/>
          </a:p>
        </p:txBody>
      </p:sp>
      <p:sp>
        <p:nvSpPr>
          <p:cNvPr id="9" name="Shape 6"/>
          <p:cNvSpPr/>
          <p:nvPr/>
        </p:nvSpPr>
        <p:spPr>
          <a:xfrm>
            <a:off x="3346704" y="1783080"/>
            <a:ext cx="2615184" cy="3063240"/>
          </a:xfrm>
          <a:prstGeom prst="roundRect">
            <a:avLst>
              <a:gd name="adj" fmla="val 2797"/>
            </a:avLst>
          </a:prstGeom>
          <a:solidFill>
            <a:srgbClr val="F1F6F8"/>
          </a:solidFill>
          <a:ln w="12700">
            <a:solidFill>
              <a:srgbClr val="F1F6F8"/>
            </a:solidFill>
            <a:prstDash val="solid"/>
          </a:ln>
        </p:spPr>
      </p:sp>
      <p:sp>
        <p:nvSpPr>
          <p:cNvPr id="10" name="Shape 7"/>
          <p:cNvSpPr/>
          <p:nvPr/>
        </p:nvSpPr>
        <p:spPr>
          <a:xfrm>
            <a:off x="4215384" y="2103120"/>
            <a:ext cx="868680" cy="868680"/>
          </a:xfrm>
          <a:prstGeom prst="ellipse">
            <a:avLst/>
          </a:prstGeom>
          <a:solidFill>
            <a:srgbClr val="B7791F"/>
          </a:solidFill>
          <a:ln w="12700">
            <a:solidFill>
              <a:srgbClr val="B7791F"/>
            </a:solidFill>
            <a:prstDash val="solid"/>
          </a:ln>
        </p:spPr>
      </p:sp>
      <p:pic>
        <p:nvPicPr>
          <p:cNvPr id="11" name="Image 1" descr="preencoded.png">    </p:cNvPr>
          <p:cNvPicPr>
            <a:picLocks noChangeAspect="1"/>
          </p:cNvPicPr>
          <p:nvPr/>
        </p:nvPicPr>
        <p:blipFill>
          <a:blip r:embed="rId2"/>
          <a:stretch>
            <a:fillRect/>
          </a:stretch>
        </p:blipFill>
        <p:spPr>
          <a:xfrm>
            <a:off x="4423867" y="2311603"/>
            <a:ext cx="451714" cy="451714"/>
          </a:xfrm>
          <a:prstGeom prst="rect">
            <a:avLst/>
          </a:prstGeom>
        </p:spPr>
      </p:pic>
      <p:sp>
        <p:nvSpPr>
          <p:cNvPr id="12" name="Text 8"/>
          <p:cNvSpPr txBox="1"/>
          <p:nvPr/>
        </p:nvSpPr>
        <p:spPr>
          <a:xfrm>
            <a:off x="3529584" y="3154680"/>
            <a:ext cx="2249424" cy="457200"/>
          </a:xfrm>
          <a:prstGeom prst="rect">
            <a:avLst/>
          </a:prstGeom>
          <a:noFill/>
          <a:ln/>
        </p:spPr>
        <p:txBody>
          <a:bodyPr wrap="square" lIns="0" tIns="0" rIns="0" bIns="0" rtlCol="0" anchor="ctr"/>
          <a:lstStyle/>
          <a:p>
            <a:pPr algn="ctr" indent="0" marL="0">
              <a:buNone/>
            </a:pPr>
            <a:r>
              <a:rPr lang="en-US" sz="1700" b="1" dirty="0">
                <a:solidFill>
                  <a:srgbClr val="1B263B"/>
                </a:solidFill>
                <a:latin typeface="Calibri" pitchFamily="34" charset="0"/>
                <a:ea typeface="Calibri" pitchFamily="34" charset="-122"/>
                <a:cs typeface="Calibri" pitchFamily="34" charset="-120"/>
              </a:rPr>
              <a:t>Flow monitor</a:t>
            </a:r>
            <a:endParaRPr lang="en-US" sz="1700" dirty="0"/>
          </a:p>
        </p:txBody>
      </p:sp>
      <p:sp>
        <p:nvSpPr>
          <p:cNvPr id="13" name="Text 9"/>
          <p:cNvSpPr txBox="1"/>
          <p:nvPr/>
        </p:nvSpPr>
        <p:spPr>
          <a:xfrm>
            <a:off x="3529584" y="3657600"/>
            <a:ext cx="2249424" cy="1005840"/>
          </a:xfrm>
          <a:prstGeom prst="rect">
            <a:avLst/>
          </a:prstGeom>
          <a:noFill/>
          <a:ln/>
        </p:spPr>
        <p:txBody>
          <a:bodyPr wrap="square" lIns="0" tIns="0" rIns="0" bIns="0" rtlCol="0" anchor="t"/>
          <a:lstStyle/>
          <a:p>
            <a:pPr algn="ctr" indent="0" marL="0">
              <a:buNone/>
            </a:pPr>
            <a:r>
              <a:rPr lang="en-US" sz="1300" dirty="0">
                <a:solidFill>
                  <a:srgbClr val="5C6B7A"/>
                </a:solidFill>
                <a:latin typeface="Calibri" pitchFamily="34" charset="0"/>
                <a:ea typeface="Calibri" pitchFamily="34" charset="-122"/>
                <a:cs typeface="Calibri" pitchFamily="34" charset="-120"/>
              </a:rPr>
              <a:t>Counts requests per source to catch floods</a:t>
            </a:r>
            <a:endParaRPr lang="en-US" sz="1300" dirty="0"/>
          </a:p>
        </p:txBody>
      </p:sp>
      <p:sp>
        <p:nvSpPr>
          <p:cNvPr id="14" name="Shape 10"/>
          <p:cNvSpPr/>
          <p:nvPr/>
        </p:nvSpPr>
        <p:spPr>
          <a:xfrm>
            <a:off x="6144768" y="1783080"/>
            <a:ext cx="2615184" cy="3063240"/>
          </a:xfrm>
          <a:prstGeom prst="roundRect">
            <a:avLst>
              <a:gd name="adj" fmla="val 2797"/>
            </a:avLst>
          </a:prstGeom>
          <a:solidFill>
            <a:srgbClr val="F1F6F8"/>
          </a:solidFill>
          <a:ln w="12700">
            <a:solidFill>
              <a:srgbClr val="F1F6F8"/>
            </a:solidFill>
            <a:prstDash val="solid"/>
          </a:ln>
        </p:spPr>
      </p:sp>
      <p:sp>
        <p:nvSpPr>
          <p:cNvPr id="15" name="Shape 11"/>
          <p:cNvSpPr/>
          <p:nvPr/>
        </p:nvSpPr>
        <p:spPr>
          <a:xfrm>
            <a:off x="7013448" y="2103120"/>
            <a:ext cx="868680" cy="868680"/>
          </a:xfrm>
          <a:prstGeom prst="ellipse">
            <a:avLst/>
          </a:prstGeom>
          <a:solidFill>
            <a:srgbClr val="6B3FB0"/>
          </a:solidFill>
          <a:ln w="12700">
            <a:solidFill>
              <a:srgbClr val="6B3FB0"/>
            </a:solidFill>
            <a:prstDash val="solid"/>
          </a:ln>
        </p:spPr>
      </p:sp>
      <p:pic>
        <p:nvPicPr>
          <p:cNvPr id="16" name="Image 2" descr="preencoded.png">    </p:cNvPr>
          <p:cNvPicPr>
            <a:picLocks noChangeAspect="1"/>
          </p:cNvPicPr>
          <p:nvPr/>
        </p:nvPicPr>
        <p:blipFill>
          <a:blip r:embed="rId3"/>
          <a:stretch>
            <a:fillRect/>
          </a:stretch>
        </p:blipFill>
        <p:spPr>
          <a:xfrm>
            <a:off x="7221931" y="2311603"/>
            <a:ext cx="451714" cy="451714"/>
          </a:xfrm>
          <a:prstGeom prst="rect">
            <a:avLst/>
          </a:prstGeom>
        </p:spPr>
      </p:pic>
      <p:sp>
        <p:nvSpPr>
          <p:cNvPr id="17" name="Text 12"/>
          <p:cNvSpPr txBox="1"/>
          <p:nvPr/>
        </p:nvSpPr>
        <p:spPr>
          <a:xfrm>
            <a:off x="6327648" y="3154680"/>
            <a:ext cx="2249424" cy="457200"/>
          </a:xfrm>
          <a:prstGeom prst="rect">
            <a:avLst/>
          </a:prstGeom>
          <a:noFill/>
          <a:ln/>
        </p:spPr>
        <p:txBody>
          <a:bodyPr wrap="square" lIns="0" tIns="0" rIns="0" bIns="0" rtlCol="0" anchor="ctr"/>
          <a:lstStyle/>
          <a:p>
            <a:pPr algn="ctr" indent="0" marL="0">
              <a:buNone/>
            </a:pPr>
            <a:r>
              <a:rPr lang="en-US" sz="1700" b="1" dirty="0">
                <a:solidFill>
                  <a:srgbClr val="1B263B"/>
                </a:solidFill>
                <a:latin typeface="Calibri" pitchFamily="34" charset="0"/>
                <a:ea typeface="Calibri" pitchFamily="34" charset="-122"/>
                <a:cs typeface="Calibri" pitchFamily="34" charset="-120"/>
              </a:rPr>
              <a:t>LSTM autoencoder</a:t>
            </a:r>
            <a:endParaRPr lang="en-US" sz="1700" dirty="0"/>
          </a:p>
        </p:txBody>
      </p:sp>
      <p:sp>
        <p:nvSpPr>
          <p:cNvPr id="18" name="Text 13"/>
          <p:cNvSpPr txBox="1"/>
          <p:nvPr/>
        </p:nvSpPr>
        <p:spPr>
          <a:xfrm>
            <a:off x="6327648" y="3657600"/>
            <a:ext cx="2249424" cy="1005840"/>
          </a:xfrm>
          <a:prstGeom prst="rect">
            <a:avLst/>
          </a:prstGeom>
          <a:noFill/>
          <a:ln/>
        </p:spPr>
        <p:txBody>
          <a:bodyPr wrap="square" lIns="0" tIns="0" rIns="0" bIns="0" rtlCol="0" anchor="t"/>
          <a:lstStyle/>
          <a:p>
            <a:pPr algn="ctr" indent="0" marL="0">
              <a:buNone/>
            </a:pPr>
            <a:r>
              <a:rPr lang="en-US" sz="1300" dirty="0">
                <a:solidFill>
                  <a:srgbClr val="5C6B7A"/>
                </a:solidFill>
                <a:latin typeface="Calibri" pitchFamily="34" charset="0"/>
                <a:ea typeface="Calibri" pitchFamily="34" charset="-122"/>
                <a:cs typeface="Calibri" pitchFamily="34" charset="-120"/>
              </a:rPr>
              <a:t>Learns normal plant behaviour to catch stealthy manipulation</a:t>
            </a:r>
            <a:endParaRPr lang="en-US" sz="1300" dirty="0"/>
          </a:p>
        </p:txBody>
      </p:sp>
      <p:sp>
        <p:nvSpPr>
          <p:cNvPr id="19" name="Shape 14"/>
          <p:cNvSpPr/>
          <p:nvPr/>
        </p:nvSpPr>
        <p:spPr>
          <a:xfrm>
            <a:off x="8942832" y="1783080"/>
            <a:ext cx="2615184" cy="3063240"/>
          </a:xfrm>
          <a:prstGeom prst="roundRect">
            <a:avLst>
              <a:gd name="adj" fmla="val 2797"/>
            </a:avLst>
          </a:prstGeom>
          <a:solidFill>
            <a:srgbClr val="F1F6F8"/>
          </a:solidFill>
          <a:ln w="12700">
            <a:solidFill>
              <a:srgbClr val="F1F6F8"/>
            </a:solidFill>
            <a:prstDash val="solid"/>
          </a:ln>
        </p:spPr>
      </p:sp>
      <p:sp>
        <p:nvSpPr>
          <p:cNvPr id="20" name="Shape 15"/>
          <p:cNvSpPr/>
          <p:nvPr/>
        </p:nvSpPr>
        <p:spPr>
          <a:xfrm>
            <a:off x="9811512" y="2103120"/>
            <a:ext cx="868680" cy="868680"/>
          </a:xfrm>
          <a:prstGeom prst="ellipse">
            <a:avLst/>
          </a:prstGeom>
          <a:solidFill>
            <a:srgbClr val="3DB4A5"/>
          </a:solidFill>
          <a:ln w="12700">
            <a:solidFill>
              <a:srgbClr val="3DB4A5"/>
            </a:solidFill>
            <a:prstDash val="solid"/>
          </a:ln>
        </p:spPr>
      </p:sp>
      <p:pic>
        <p:nvPicPr>
          <p:cNvPr id="21" name="Image 3" descr="preencoded.png">    </p:cNvPr>
          <p:cNvPicPr>
            <a:picLocks noChangeAspect="1"/>
          </p:cNvPicPr>
          <p:nvPr/>
        </p:nvPicPr>
        <p:blipFill>
          <a:blip r:embed="rId4"/>
          <a:stretch>
            <a:fillRect/>
          </a:stretch>
        </p:blipFill>
        <p:spPr>
          <a:xfrm>
            <a:off x="10019995" y="2311603"/>
            <a:ext cx="451714" cy="451714"/>
          </a:xfrm>
          <a:prstGeom prst="rect">
            <a:avLst/>
          </a:prstGeom>
        </p:spPr>
      </p:pic>
      <p:sp>
        <p:nvSpPr>
          <p:cNvPr id="22" name="Text 16"/>
          <p:cNvSpPr txBox="1"/>
          <p:nvPr/>
        </p:nvSpPr>
        <p:spPr>
          <a:xfrm>
            <a:off x="9125712" y="3154680"/>
            <a:ext cx="2249424" cy="457200"/>
          </a:xfrm>
          <a:prstGeom prst="rect">
            <a:avLst/>
          </a:prstGeom>
          <a:noFill/>
          <a:ln/>
        </p:spPr>
        <p:txBody>
          <a:bodyPr wrap="square" lIns="0" tIns="0" rIns="0" bIns="0" rtlCol="0" anchor="ctr"/>
          <a:lstStyle/>
          <a:p>
            <a:pPr algn="ctr" indent="0" marL="0">
              <a:buNone/>
            </a:pPr>
            <a:r>
              <a:rPr lang="en-US" sz="1700" b="1" dirty="0">
                <a:solidFill>
                  <a:srgbClr val="1B263B"/>
                </a:solidFill>
                <a:latin typeface="Calibri" pitchFamily="34" charset="0"/>
                <a:ea typeface="Calibri" pitchFamily="34" charset="-122"/>
                <a:cs typeface="Calibri" pitchFamily="34" charset="-120"/>
              </a:rPr>
              <a:t>Tamper-evident ledger</a:t>
            </a:r>
            <a:endParaRPr lang="en-US" sz="1700" dirty="0"/>
          </a:p>
        </p:txBody>
      </p:sp>
      <p:sp>
        <p:nvSpPr>
          <p:cNvPr id="23" name="Text 17"/>
          <p:cNvSpPr txBox="1"/>
          <p:nvPr/>
        </p:nvSpPr>
        <p:spPr>
          <a:xfrm>
            <a:off x="9125712" y="3657600"/>
            <a:ext cx="2249424" cy="1005840"/>
          </a:xfrm>
          <a:prstGeom prst="rect">
            <a:avLst/>
          </a:prstGeom>
          <a:noFill/>
          <a:ln/>
        </p:spPr>
        <p:txBody>
          <a:bodyPr wrap="square" lIns="0" tIns="0" rIns="0" bIns="0" rtlCol="0" anchor="t"/>
          <a:lstStyle/>
          <a:p>
            <a:pPr algn="ctr" indent="0" marL="0">
              <a:buNone/>
            </a:pPr>
            <a:r>
              <a:rPr lang="en-US" sz="1300" dirty="0">
                <a:solidFill>
                  <a:srgbClr val="5C6B7A"/>
                </a:solidFill>
                <a:latin typeface="Calibri" pitchFamily="34" charset="0"/>
                <a:ea typeface="Calibri" pitchFamily="34" charset="-122"/>
                <a:cs typeface="Calibri" pitchFamily="34" charset="-120"/>
              </a:rPr>
              <a:t>Hash-chained, signed record of every command and alert</a:t>
            </a:r>
            <a:endParaRPr lang="en-US" sz="1300" dirty="0"/>
          </a:p>
        </p:txBody>
      </p:sp>
      <p:sp>
        <p:nvSpPr>
          <p:cNvPr id="24" name="Text 18"/>
          <p:cNvSpPr txBox="1"/>
          <p:nvPr/>
        </p:nvSpPr>
        <p:spPr>
          <a:xfrm>
            <a:off x="548640" y="5257800"/>
            <a:ext cx="11094415" cy="457200"/>
          </a:xfrm>
          <a:prstGeom prst="rect">
            <a:avLst/>
          </a:prstGeom>
          <a:noFill/>
          <a:ln/>
        </p:spPr>
        <p:txBody>
          <a:bodyPr wrap="square" lIns="0" tIns="0" rIns="0" bIns="0" rtlCol="0" anchor="ctr"/>
          <a:lstStyle/>
          <a:p>
            <a:pPr indent="0" marL="0">
              <a:buNone/>
            </a:pPr>
            <a:r>
              <a:rPr lang="en-US" sz="1600" b="1" dirty="0">
                <a:solidFill>
                  <a:srgbClr val="D64545"/>
                </a:solidFill>
                <a:latin typeface="Calibri" pitchFamily="34" charset="0"/>
                <a:ea typeface="Calibri" pitchFamily="34" charset="-122"/>
                <a:cs typeface="Calibri" pitchFamily="34" charset="-120"/>
              </a:rPr>
              <a:t>Constraint: </a:t>
            </a:r>
            <a:pPr indent="0" marL="0">
              <a:buNone/>
            </a:pPr>
            <a:r>
              <a:rPr lang="en-US" sz="1600" dirty="0">
                <a:solidFill>
                  <a:srgbClr val="1B263B"/>
                </a:solidFill>
                <a:latin typeface="Calibri" pitchFamily="34" charset="0"/>
                <a:ea typeface="Calibri" pitchFamily="34" charset="-122"/>
                <a:cs typeface="Calibri" pitchFamily="34" charset="-120"/>
              </a:rPr>
              <a:t>no ICS hardware was available, so the plant, network, attacker and detectors are all software.</a:t>
            </a:r>
            <a:endParaRPr lang="en-US" sz="1600" dirty="0"/>
          </a:p>
        </p:txBody>
      </p:sp>
      <p:sp>
        <p:nvSpPr>
          <p:cNvPr id="25" name="Text 19"/>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8A97A6"/>
                </a:solidFill>
                <a:latin typeface="Calibri" pitchFamily="34" charset="0"/>
                <a:ea typeface="Calibri" pitchFamily="34" charset="-122"/>
                <a:cs typeface="Calibri" pitchFamily="34" charset="-120"/>
              </a:rPr>
              <a:t>3 / 15</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3152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No hardware: what we built instead</a:t>
            </a:r>
            <a:endParaRPr lang="en-US" sz="3200" dirty="0"/>
          </a:p>
        </p:txBody>
      </p:sp>
      <p:sp>
        <p:nvSpPr>
          <p:cNvPr id="3" name="Text 1"/>
          <p:cNvSpPr txBox="1"/>
          <p:nvPr/>
        </p:nvSpPr>
        <p:spPr>
          <a:xfrm>
            <a:off x="548640" y="1234440"/>
            <a:ext cx="4206240" cy="365760"/>
          </a:xfrm>
          <a:prstGeom prst="rect">
            <a:avLst/>
          </a:prstGeom>
          <a:noFill/>
          <a:ln/>
        </p:spPr>
        <p:txBody>
          <a:bodyPr wrap="square" lIns="0" tIns="0" rIns="0" bIns="0" rtlCol="0" anchor="ctr"/>
          <a:lstStyle/>
          <a:p>
            <a:pPr indent="0" marL="0">
              <a:buNone/>
            </a:pPr>
            <a:r>
              <a:rPr lang="en-US" sz="1400" b="1" dirty="0">
                <a:solidFill>
                  <a:srgbClr val="5C6B7A"/>
                </a:solidFill>
                <a:latin typeface="Calibri" pitchFamily="34" charset="0"/>
                <a:ea typeface="Calibri" pitchFamily="34" charset="-122"/>
                <a:cs typeface="Calibri" pitchFamily="34" charset="-120"/>
              </a:rPr>
              <a:t>In the proposal</a:t>
            </a:r>
            <a:endParaRPr lang="en-US" sz="1400" dirty="0"/>
          </a:p>
        </p:txBody>
      </p:sp>
      <p:sp>
        <p:nvSpPr>
          <p:cNvPr id="4" name="Text 2"/>
          <p:cNvSpPr txBox="1"/>
          <p:nvPr/>
        </p:nvSpPr>
        <p:spPr>
          <a:xfrm>
            <a:off x="5806440" y="1234440"/>
            <a:ext cx="5760720" cy="365760"/>
          </a:xfrm>
          <a:prstGeom prst="rect">
            <a:avLst/>
          </a:prstGeom>
          <a:noFill/>
          <a:ln/>
        </p:spPr>
        <p:txBody>
          <a:bodyPr wrap="square" lIns="0" tIns="0" rIns="0" bIns="0" rtlCol="0" anchor="ctr"/>
          <a:lstStyle/>
          <a:p>
            <a:pPr indent="0" marL="0">
              <a:buNone/>
            </a:pPr>
            <a:r>
              <a:rPr lang="en-US" sz="1400" b="1" dirty="0">
                <a:solidFill>
                  <a:srgbClr val="13678A"/>
                </a:solidFill>
                <a:latin typeface="Calibri" pitchFamily="34" charset="0"/>
                <a:ea typeface="Calibri" pitchFamily="34" charset="-122"/>
                <a:cs typeface="Calibri" pitchFamily="34" charset="-120"/>
              </a:rPr>
              <a:t>What we built</a:t>
            </a:r>
            <a:endParaRPr lang="en-US" sz="1400" dirty="0"/>
          </a:p>
        </p:txBody>
      </p:sp>
      <p:sp>
        <p:nvSpPr>
          <p:cNvPr id="5" name="Shape 3"/>
          <p:cNvSpPr/>
          <p:nvPr/>
        </p:nvSpPr>
        <p:spPr>
          <a:xfrm>
            <a:off x="548640" y="1691640"/>
            <a:ext cx="4206240" cy="685800"/>
          </a:xfrm>
          <a:prstGeom prst="roundRect">
            <a:avLst>
              <a:gd name="adj" fmla="val 10667"/>
            </a:avLst>
          </a:prstGeom>
          <a:solidFill>
            <a:srgbClr val="EEF0F2"/>
          </a:solidFill>
          <a:ln w="12700">
            <a:solidFill>
              <a:srgbClr val="EEF0F2"/>
            </a:solidFill>
            <a:prstDash val="solid"/>
          </a:ln>
        </p:spPr>
      </p:sp>
      <p:sp>
        <p:nvSpPr>
          <p:cNvPr id="6" name="Text 4"/>
          <p:cNvSpPr txBox="1"/>
          <p:nvPr/>
        </p:nvSpPr>
        <p:spPr>
          <a:xfrm>
            <a:off x="777240" y="1691640"/>
            <a:ext cx="3840480" cy="685800"/>
          </a:xfrm>
          <a:prstGeom prst="rect">
            <a:avLst/>
          </a:prstGeom>
          <a:noFill/>
          <a:ln/>
        </p:spPr>
        <p:txBody>
          <a:bodyPr wrap="square" lIns="0" tIns="0" rIns="0" bIns="0" rtlCol="0" anchor="ctr"/>
          <a:lstStyle/>
          <a:p>
            <a:pPr indent="0" marL="0">
              <a:buNone/>
            </a:pPr>
            <a:r>
              <a:rPr lang="en-US" sz="1500" dirty="0">
                <a:solidFill>
                  <a:srgbClr val="5C6B7A"/>
                </a:solidFill>
                <a:latin typeface="Calibri" pitchFamily="34" charset="0"/>
                <a:ea typeface="Calibri" pitchFamily="34" charset="-122"/>
                <a:cs typeface="Calibri" pitchFamily="34" charset="-120"/>
              </a:rPr>
              <a:t>Physical testbed (SWaT)</a:t>
            </a:r>
            <a:endParaRPr lang="en-US" sz="1500" dirty="0"/>
          </a:p>
        </p:txBody>
      </p:sp>
      <p:pic>
        <p:nvPicPr>
          <p:cNvPr id="7" name="Image 0" descr="preencoded.png">    </p:cNvPr>
          <p:cNvPicPr>
            <a:picLocks noChangeAspect="1"/>
          </p:cNvPicPr>
          <p:nvPr/>
        </p:nvPicPr>
        <p:blipFill>
          <a:blip r:embed="rId1"/>
          <a:stretch>
            <a:fillRect/>
          </a:stretch>
        </p:blipFill>
        <p:spPr>
          <a:xfrm>
            <a:off x="5029200" y="1874520"/>
            <a:ext cx="347472" cy="320040"/>
          </a:xfrm>
          <a:prstGeom prst="rect">
            <a:avLst/>
          </a:prstGeom>
        </p:spPr>
      </p:pic>
      <p:sp>
        <p:nvSpPr>
          <p:cNvPr id="8" name="Shape 5"/>
          <p:cNvSpPr/>
          <p:nvPr/>
        </p:nvSpPr>
        <p:spPr>
          <a:xfrm>
            <a:off x="5806440" y="1691640"/>
            <a:ext cx="5833872" cy="685800"/>
          </a:xfrm>
          <a:prstGeom prst="roundRect">
            <a:avLst>
              <a:gd name="adj" fmla="val 10667"/>
            </a:avLst>
          </a:prstGeom>
          <a:solidFill>
            <a:srgbClr val="D8ECEF"/>
          </a:solidFill>
          <a:ln w="12700">
            <a:solidFill>
              <a:srgbClr val="D8ECEF"/>
            </a:solidFill>
            <a:prstDash val="solid"/>
          </a:ln>
        </p:spPr>
      </p:sp>
      <p:sp>
        <p:nvSpPr>
          <p:cNvPr id="9" name="Text 6"/>
          <p:cNvSpPr txBox="1"/>
          <p:nvPr/>
        </p:nvSpPr>
        <p:spPr>
          <a:xfrm>
            <a:off x="6035040" y="1691640"/>
            <a:ext cx="5486400" cy="685800"/>
          </a:xfrm>
          <a:prstGeom prst="rect">
            <a:avLst/>
          </a:prstGeom>
          <a:noFill/>
          <a:ln/>
        </p:spPr>
        <p:txBody>
          <a:bodyPr wrap="square" lIns="0" tIns="0" rIns="0" bIns="0" rtlCol="0" anchor="ctr"/>
          <a:lstStyle/>
          <a:p>
            <a:pPr indent="0" marL="0">
              <a:buNone/>
            </a:pPr>
            <a:r>
              <a:rPr lang="en-US" sz="1500" b="1" dirty="0">
                <a:solidFill>
                  <a:srgbClr val="1B263B"/>
                </a:solidFill>
                <a:latin typeface="Calibri" pitchFamily="34" charset="0"/>
                <a:ea typeface="Calibri" pitchFamily="34" charset="-122"/>
                <a:cs typeface="Calibri" pitchFamily="34" charset="-120"/>
              </a:rPr>
              <a:t>Python model of five coupled treatment stages</a:t>
            </a:r>
            <a:endParaRPr lang="en-US" sz="1500" dirty="0"/>
          </a:p>
        </p:txBody>
      </p:sp>
      <p:sp>
        <p:nvSpPr>
          <p:cNvPr id="10" name="Shape 7"/>
          <p:cNvSpPr/>
          <p:nvPr/>
        </p:nvSpPr>
        <p:spPr>
          <a:xfrm>
            <a:off x="548640" y="2560320"/>
            <a:ext cx="4206240" cy="685800"/>
          </a:xfrm>
          <a:prstGeom prst="roundRect">
            <a:avLst>
              <a:gd name="adj" fmla="val 10667"/>
            </a:avLst>
          </a:prstGeom>
          <a:solidFill>
            <a:srgbClr val="EEF0F2"/>
          </a:solidFill>
          <a:ln w="12700">
            <a:solidFill>
              <a:srgbClr val="EEF0F2"/>
            </a:solidFill>
            <a:prstDash val="solid"/>
          </a:ln>
        </p:spPr>
      </p:sp>
      <p:sp>
        <p:nvSpPr>
          <p:cNvPr id="11" name="Text 8"/>
          <p:cNvSpPr txBox="1"/>
          <p:nvPr/>
        </p:nvSpPr>
        <p:spPr>
          <a:xfrm>
            <a:off x="777240" y="2560320"/>
            <a:ext cx="3840480" cy="685800"/>
          </a:xfrm>
          <a:prstGeom prst="rect">
            <a:avLst/>
          </a:prstGeom>
          <a:noFill/>
          <a:ln/>
        </p:spPr>
        <p:txBody>
          <a:bodyPr wrap="square" lIns="0" tIns="0" rIns="0" bIns="0" rtlCol="0" anchor="ctr"/>
          <a:lstStyle/>
          <a:p>
            <a:pPr indent="0" marL="0">
              <a:buNone/>
            </a:pPr>
            <a:r>
              <a:rPr lang="en-US" sz="1500" dirty="0">
                <a:solidFill>
                  <a:srgbClr val="5C6B7A"/>
                </a:solidFill>
                <a:latin typeface="Calibri" pitchFamily="34" charset="0"/>
                <a:ea typeface="Calibri" pitchFamily="34" charset="-122"/>
                <a:cs typeface="Calibri" pitchFamily="34" charset="-120"/>
              </a:rPr>
              <a:t>EtherNet/IP (CIP) traffic</a:t>
            </a:r>
            <a:endParaRPr lang="en-US" sz="1500" dirty="0"/>
          </a:p>
        </p:txBody>
      </p:sp>
      <p:pic>
        <p:nvPicPr>
          <p:cNvPr id="12" name="Image 1" descr="preencoded.png">    </p:cNvPr>
          <p:cNvPicPr>
            <a:picLocks noChangeAspect="1"/>
          </p:cNvPicPr>
          <p:nvPr/>
        </p:nvPicPr>
        <p:blipFill>
          <a:blip r:embed="rId2"/>
          <a:stretch>
            <a:fillRect/>
          </a:stretch>
        </p:blipFill>
        <p:spPr>
          <a:xfrm>
            <a:off x="5029200" y="2743200"/>
            <a:ext cx="347472" cy="320040"/>
          </a:xfrm>
          <a:prstGeom prst="rect">
            <a:avLst/>
          </a:prstGeom>
        </p:spPr>
      </p:pic>
      <p:sp>
        <p:nvSpPr>
          <p:cNvPr id="13" name="Shape 9"/>
          <p:cNvSpPr/>
          <p:nvPr/>
        </p:nvSpPr>
        <p:spPr>
          <a:xfrm>
            <a:off x="5806440" y="2560320"/>
            <a:ext cx="5833872" cy="685800"/>
          </a:xfrm>
          <a:prstGeom prst="roundRect">
            <a:avLst>
              <a:gd name="adj" fmla="val 10667"/>
            </a:avLst>
          </a:prstGeom>
          <a:solidFill>
            <a:srgbClr val="D8ECEF"/>
          </a:solidFill>
          <a:ln w="12700">
            <a:solidFill>
              <a:srgbClr val="D8ECEF"/>
            </a:solidFill>
            <a:prstDash val="solid"/>
          </a:ln>
        </p:spPr>
      </p:sp>
      <p:sp>
        <p:nvSpPr>
          <p:cNvPr id="14" name="Text 10"/>
          <p:cNvSpPr txBox="1"/>
          <p:nvPr/>
        </p:nvSpPr>
        <p:spPr>
          <a:xfrm>
            <a:off x="6035040" y="2560320"/>
            <a:ext cx="5486400" cy="685800"/>
          </a:xfrm>
          <a:prstGeom prst="rect">
            <a:avLst/>
          </a:prstGeom>
          <a:noFill/>
          <a:ln/>
        </p:spPr>
        <p:txBody>
          <a:bodyPr wrap="square" lIns="0" tIns="0" rIns="0" bIns="0" rtlCol="0" anchor="ctr"/>
          <a:lstStyle/>
          <a:p>
            <a:pPr indent="0" marL="0">
              <a:buNone/>
            </a:pPr>
            <a:r>
              <a:rPr lang="en-US" sz="1500" b="1" dirty="0">
                <a:solidFill>
                  <a:srgbClr val="1B263B"/>
                </a:solidFill>
                <a:latin typeface="Calibri" pitchFamily="34" charset="0"/>
                <a:ea typeface="Calibri" pitchFamily="34" charset="-122"/>
                <a:cs typeface="Calibri" pitchFamily="34" charset="-120"/>
              </a:rPr>
              <a:t>Modbus TCP: same weaknesses, open tooling</a:t>
            </a:r>
            <a:endParaRPr lang="en-US" sz="1500" dirty="0"/>
          </a:p>
        </p:txBody>
      </p:sp>
      <p:sp>
        <p:nvSpPr>
          <p:cNvPr id="15" name="Shape 11"/>
          <p:cNvSpPr/>
          <p:nvPr/>
        </p:nvSpPr>
        <p:spPr>
          <a:xfrm>
            <a:off x="548640" y="3429000"/>
            <a:ext cx="4206240" cy="685800"/>
          </a:xfrm>
          <a:prstGeom prst="roundRect">
            <a:avLst>
              <a:gd name="adj" fmla="val 10667"/>
            </a:avLst>
          </a:prstGeom>
          <a:solidFill>
            <a:srgbClr val="EEF0F2"/>
          </a:solidFill>
          <a:ln w="12700">
            <a:solidFill>
              <a:srgbClr val="EEF0F2"/>
            </a:solidFill>
            <a:prstDash val="solid"/>
          </a:ln>
        </p:spPr>
      </p:sp>
      <p:sp>
        <p:nvSpPr>
          <p:cNvPr id="16" name="Text 12"/>
          <p:cNvSpPr txBox="1"/>
          <p:nvPr/>
        </p:nvSpPr>
        <p:spPr>
          <a:xfrm>
            <a:off x="777240" y="3429000"/>
            <a:ext cx="3840480" cy="685800"/>
          </a:xfrm>
          <a:prstGeom prst="rect">
            <a:avLst/>
          </a:prstGeom>
          <a:noFill/>
          <a:ln/>
        </p:spPr>
        <p:txBody>
          <a:bodyPr wrap="square" lIns="0" tIns="0" rIns="0" bIns="0" rtlCol="0" anchor="ctr"/>
          <a:lstStyle/>
          <a:p>
            <a:pPr indent="0" marL="0">
              <a:buNone/>
            </a:pPr>
            <a:r>
              <a:rPr lang="en-US" sz="1500" dirty="0">
                <a:solidFill>
                  <a:srgbClr val="5C6B7A"/>
                </a:solidFill>
                <a:latin typeface="Calibri" pitchFamily="34" charset="0"/>
                <a:ea typeface="Calibri" pitchFamily="34" charset="-122"/>
                <a:cs typeface="Calibri" pitchFamily="34" charset="-120"/>
              </a:rPr>
              <a:t>MATLAB/Simulink, OpenPLC</a:t>
            </a:r>
            <a:endParaRPr lang="en-US" sz="1500" dirty="0"/>
          </a:p>
        </p:txBody>
      </p:sp>
      <p:pic>
        <p:nvPicPr>
          <p:cNvPr id="17" name="Image 2" descr="preencoded.png">    </p:cNvPr>
          <p:cNvPicPr>
            <a:picLocks noChangeAspect="1"/>
          </p:cNvPicPr>
          <p:nvPr/>
        </p:nvPicPr>
        <p:blipFill>
          <a:blip r:embed="rId3"/>
          <a:stretch>
            <a:fillRect/>
          </a:stretch>
        </p:blipFill>
        <p:spPr>
          <a:xfrm>
            <a:off x="5029200" y="3611880"/>
            <a:ext cx="347472" cy="320040"/>
          </a:xfrm>
          <a:prstGeom prst="rect">
            <a:avLst/>
          </a:prstGeom>
        </p:spPr>
      </p:pic>
      <p:sp>
        <p:nvSpPr>
          <p:cNvPr id="18" name="Shape 13"/>
          <p:cNvSpPr/>
          <p:nvPr/>
        </p:nvSpPr>
        <p:spPr>
          <a:xfrm>
            <a:off x="5806440" y="3429000"/>
            <a:ext cx="5833872" cy="685800"/>
          </a:xfrm>
          <a:prstGeom prst="roundRect">
            <a:avLst>
              <a:gd name="adj" fmla="val 10667"/>
            </a:avLst>
          </a:prstGeom>
          <a:solidFill>
            <a:srgbClr val="D8ECEF"/>
          </a:solidFill>
          <a:ln w="12700">
            <a:solidFill>
              <a:srgbClr val="D8ECEF"/>
            </a:solidFill>
            <a:prstDash val="solid"/>
          </a:ln>
        </p:spPr>
      </p:sp>
      <p:sp>
        <p:nvSpPr>
          <p:cNvPr id="19" name="Text 14"/>
          <p:cNvSpPr txBox="1"/>
          <p:nvPr/>
        </p:nvSpPr>
        <p:spPr>
          <a:xfrm>
            <a:off x="6035040" y="3429000"/>
            <a:ext cx="5486400" cy="685800"/>
          </a:xfrm>
          <a:prstGeom prst="rect">
            <a:avLst/>
          </a:prstGeom>
          <a:noFill/>
          <a:ln/>
        </p:spPr>
        <p:txBody>
          <a:bodyPr wrap="square" lIns="0" tIns="0" rIns="0" bIns="0" rtlCol="0" anchor="ctr"/>
          <a:lstStyle/>
          <a:p>
            <a:pPr indent="0" marL="0">
              <a:buNone/>
            </a:pPr>
            <a:r>
              <a:rPr lang="en-US" sz="1500" b="1" dirty="0">
                <a:solidFill>
                  <a:srgbClr val="1B263B"/>
                </a:solidFill>
                <a:latin typeface="Calibri" pitchFamily="34" charset="0"/>
                <a:ea typeface="Calibri" pitchFamily="34" charset="-122"/>
                <a:cs typeface="Calibri" pitchFamily="34" charset="-120"/>
              </a:rPr>
              <a:t>Python process model and controller</a:t>
            </a:r>
            <a:endParaRPr lang="en-US" sz="1500" dirty="0"/>
          </a:p>
        </p:txBody>
      </p:sp>
      <p:sp>
        <p:nvSpPr>
          <p:cNvPr id="20" name="Shape 15"/>
          <p:cNvSpPr/>
          <p:nvPr/>
        </p:nvSpPr>
        <p:spPr>
          <a:xfrm>
            <a:off x="548640" y="4297680"/>
            <a:ext cx="4206240" cy="685800"/>
          </a:xfrm>
          <a:prstGeom prst="roundRect">
            <a:avLst>
              <a:gd name="adj" fmla="val 10667"/>
            </a:avLst>
          </a:prstGeom>
          <a:solidFill>
            <a:srgbClr val="EEF0F2"/>
          </a:solidFill>
          <a:ln w="12700">
            <a:solidFill>
              <a:srgbClr val="EEF0F2"/>
            </a:solidFill>
            <a:prstDash val="solid"/>
          </a:ln>
        </p:spPr>
      </p:sp>
      <p:sp>
        <p:nvSpPr>
          <p:cNvPr id="21" name="Text 16"/>
          <p:cNvSpPr txBox="1"/>
          <p:nvPr/>
        </p:nvSpPr>
        <p:spPr>
          <a:xfrm>
            <a:off x="777240" y="4297680"/>
            <a:ext cx="3840480" cy="685800"/>
          </a:xfrm>
          <a:prstGeom prst="rect">
            <a:avLst/>
          </a:prstGeom>
          <a:noFill/>
          <a:ln/>
        </p:spPr>
        <p:txBody>
          <a:bodyPr wrap="square" lIns="0" tIns="0" rIns="0" bIns="0" rtlCol="0" anchor="ctr"/>
          <a:lstStyle/>
          <a:p>
            <a:pPr indent="0" marL="0">
              <a:buNone/>
            </a:pPr>
            <a:r>
              <a:rPr lang="en-US" sz="1500" dirty="0">
                <a:solidFill>
                  <a:srgbClr val="5C6B7A"/>
                </a:solidFill>
                <a:latin typeface="Calibri" pitchFamily="34" charset="0"/>
                <a:ea typeface="Calibri" pitchFamily="34" charset="-122"/>
                <a:cs typeface="Calibri" pitchFamily="34" charset="-120"/>
              </a:rPr>
              <a:t>Hyperledger Fabric</a:t>
            </a:r>
            <a:endParaRPr lang="en-US" sz="1500" dirty="0"/>
          </a:p>
        </p:txBody>
      </p:sp>
      <p:pic>
        <p:nvPicPr>
          <p:cNvPr id="22" name="Image 3" descr="preencoded.png">    </p:cNvPr>
          <p:cNvPicPr>
            <a:picLocks noChangeAspect="1"/>
          </p:cNvPicPr>
          <p:nvPr/>
        </p:nvPicPr>
        <p:blipFill>
          <a:blip r:embed="rId4"/>
          <a:stretch>
            <a:fillRect/>
          </a:stretch>
        </p:blipFill>
        <p:spPr>
          <a:xfrm>
            <a:off x="5029200" y="4480560"/>
            <a:ext cx="347472" cy="320040"/>
          </a:xfrm>
          <a:prstGeom prst="rect">
            <a:avLst/>
          </a:prstGeom>
        </p:spPr>
      </p:pic>
      <p:sp>
        <p:nvSpPr>
          <p:cNvPr id="23" name="Shape 17"/>
          <p:cNvSpPr/>
          <p:nvPr/>
        </p:nvSpPr>
        <p:spPr>
          <a:xfrm>
            <a:off x="5806440" y="4297680"/>
            <a:ext cx="5833872" cy="685800"/>
          </a:xfrm>
          <a:prstGeom prst="roundRect">
            <a:avLst>
              <a:gd name="adj" fmla="val 10667"/>
            </a:avLst>
          </a:prstGeom>
          <a:solidFill>
            <a:srgbClr val="D8ECEF"/>
          </a:solidFill>
          <a:ln w="12700">
            <a:solidFill>
              <a:srgbClr val="D8ECEF"/>
            </a:solidFill>
            <a:prstDash val="solid"/>
          </a:ln>
        </p:spPr>
      </p:sp>
      <p:sp>
        <p:nvSpPr>
          <p:cNvPr id="24" name="Text 18"/>
          <p:cNvSpPr txBox="1"/>
          <p:nvPr/>
        </p:nvSpPr>
        <p:spPr>
          <a:xfrm>
            <a:off x="6035040" y="4297680"/>
            <a:ext cx="5486400" cy="685800"/>
          </a:xfrm>
          <a:prstGeom prst="rect">
            <a:avLst/>
          </a:prstGeom>
          <a:noFill/>
          <a:ln/>
        </p:spPr>
        <p:txBody>
          <a:bodyPr wrap="square" lIns="0" tIns="0" rIns="0" bIns="0" rtlCol="0" anchor="ctr"/>
          <a:lstStyle/>
          <a:p>
            <a:pPr indent="0" marL="0">
              <a:buNone/>
            </a:pPr>
            <a:r>
              <a:rPr lang="en-US" sz="1500" b="1" dirty="0">
                <a:solidFill>
                  <a:srgbClr val="1B263B"/>
                </a:solidFill>
                <a:latin typeface="Calibri" pitchFamily="34" charset="0"/>
                <a:ea typeface="Calibri" pitchFamily="34" charset="-122"/>
                <a:cs typeface="Calibri" pitchFamily="34" charset="-120"/>
              </a:rPr>
              <a:t>Signed SHA-256 hash chain behind a ledger interface</a:t>
            </a:r>
            <a:endParaRPr lang="en-US" sz="1500" dirty="0"/>
          </a:p>
        </p:txBody>
      </p:sp>
      <p:sp>
        <p:nvSpPr>
          <p:cNvPr id="25" name="Shape 19"/>
          <p:cNvSpPr/>
          <p:nvPr/>
        </p:nvSpPr>
        <p:spPr>
          <a:xfrm>
            <a:off x="548640" y="5166360"/>
            <a:ext cx="4206240" cy="685800"/>
          </a:xfrm>
          <a:prstGeom prst="roundRect">
            <a:avLst>
              <a:gd name="adj" fmla="val 10667"/>
            </a:avLst>
          </a:prstGeom>
          <a:solidFill>
            <a:srgbClr val="EEF0F2"/>
          </a:solidFill>
          <a:ln w="12700">
            <a:solidFill>
              <a:srgbClr val="EEF0F2"/>
            </a:solidFill>
            <a:prstDash val="solid"/>
          </a:ln>
        </p:spPr>
      </p:sp>
      <p:sp>
        <p:nvSpPr>
          <p:cNvPr id="26" name="Text 20"/>
          <p:cNvSpPr txBox="1"/>
          <p:nvPr/>
        </p:nvSpPr>
        <p:spPr>
          <a:xfrm>
            <a:off x="777240" y="5166360"/>
            <a:ext cx="3840480" cy="685800"/>
          </a:xfrm>
          <a:prstGeom prst="rect">
            <a:avLst/>
          </a:prstGeom>
          <a:noFill/>
          <a:ln/>
        </p:spPr>
        <p:txBody>
          <a:bodyPr wrap="square" lIns="0" tIns="0" rIns="0" bIns="0" rtlCol="0" anchor="ctr"/>
          <a:lstStyle/>
          <a:p>
            <a:pPr indent="0" marL="0">
              <a:buNone/>
            </a:pPr>
            <a:r>
              <a:rPr lang="en-US" sz="1500" dirty="0">
                <a:solidFill>
                  <a:srgbClr val="5C6B7A"/>
                </a:solidFill>
                <a:latin typeface="Calibri" pitchFamily="34" charset="0"/>
                <a:ea typeface="Calibri" pitchFamily="34" charset="-122"/>
                <a:cs typeface="Calibri" pitchFamily="34" charset="-120"/>
              </a:rPr>
              <a:t>SWaT dataset (needs approval)</a:t>
            </a:r>
            <a:endParaRPr lang="en-US" sz="1500" dirty="0"/>
          </a:p>
        </p:txBody>
      </p:sp>
      <p:pic>
        <p:nvPicPr>
          <p:cNvPr id="27" name="Image 4" descr="preencoded.png">    </p:cNvPr>
          <p:cNvPicPr>
            <a:picLocks noChangeAspect="1"/>
          </p:cNvPicPr>
          <p:nvPr/>
        </p:nvPicPr>
        <p:blipFill>
          <a:blip r:embed="rId5"/>
          <a:stretch>
            <a:fillRect/>
          </a:stretch>
        </p:blipFill>
        <p:spPr>
          <a:xfrm>
            <a:off x="5029200" y="5349240"/>
            <a:ext cx="347472" cy="320040"/>
          </a:xfrm>
          <a:prstGeom prst="rect">
            <a:avLst/>
          </a:prstGeom>
        </p:spPr>
      </p:pic>
      <p:sp>
        <p:nvSpPr>
          <p:cNvPr id="28" name="Shape 21"/>
          <p:cNvSpPr/>
          <p:nvPr/>
        </p:nvSpPr>
        <p:spPr>
          <a:xfrm>
            <a:off x="5806440" y="5166360"/>
            <a:ext cx="5833872" cy="685800"/>
          </a:xfrm>
          <a:prstGeom prst="roundRect">
            <a:avLst>
              <a:gd name="adj" fmla="val 10667"/>
            </a:avLst>
          </a:prstGeom>
          <a:solidFill>
            <a:srgbClr val="D8ECEF"/>
          </a:solidFill>
          <a:ln w="12700">
            <a:solidFill>
              <a:srgbClr val="D8ECEF"/>
            </a:solidFill>
            <a:prstDash val="solid"/>
          </a:ln>
        </p:spPr>
      </p:sp>
      <p:sp>
        <p:nvSpPr>
          <p:cNvPr id="29" name="Text 22"/>
          <p:cNvSpPr txBox="1"/>
          <p:nvPr/>
        </p:nvSpPr>
        <p:spPr>
          <a:xfrm>
            <a:off x="6035040" y="5166360"/>
            <a:ext cx="5486400" cy="685800"/>
          </a:xfrm>
          <a:prstGeom prst="rect">
            <a:avLst/>
          </a:prstGeom>
          <a:noFill/>
          <a:ln/>
        </p:spPr>
        <p:txBody>
          <a:bodyPr wrap="square" lIns="0" tIns="0" rIns="0" bIns="0" rtlCol="0" anchor="ctr"/>
          <a:lstStyle/>
          <a:p>
            <a:pPr indent="0" marL="0">
              <a:buNone/>
            </a:pPr>
            <a:r>
              <a:rPr lang="en-US" sz="1500" b="1" dirty="0">
                <a:solidFill>
                  <a:srgbClr val="1B263B"/>
                </a:solidFill>
                <a:latin typeface="Calibri" pitchFamily="34" charset="0"/>
                <a:ea typeface="Calibri" pitchFamily="34" charset="-122"/>
                <a:cs typeface="Calibri" pitchFamily="34" charset="-120"/>
              </a:rPr>
              <a:t>Own labelled dataset + public HAI 22.04</a:t>
            </a:r>
            <a:endParaRPr lang="en-US" sz="1500" dirty="0"/>
          </a:p>
        </p:txBody>
      </p:sp>
      <p:sp>
        <p:nvSpPr>
          <p:cNvPr id="30" name="Text 23"/>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8A97A6"/>
                </a:solidFill>
                <a:latin typeface="Calibri" pitchFamily="34" charset="0"/>
                <a:ea typeface="Calibri" pitchFamily="34" charset="-122"/>
                <a:cs typeface="Calibri" pitchFamily="34" charset="-120"/>
              </a:rPr>
              <a:t>4 / 15</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3152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System architecture</a:t>
            </a:r>
            <a:endParaRPr lang="en-US" sz="3200" dirty="0"/>
          </a:p>
        </p:txBody>
      </p:sp>
      <p:pic>
        <p:nvPicPr>
          <p:cNvPr id="3" name="Image 0" descr="C:\Users\sunanda\Desktop\fyp\report\figures\architecture.png">    </p:cNvPr>
          <p:cNvPicPr>
            <a:picLocks noChangeAspect="1"/>
          </p:cNvPicPr>
          <p:nvPr/>
        </p:nvPicPr>
        <p:blipFill>
          <a:blip r:embed="rId1"/>
          <a:stretch>
            <a:fillRect/>
          </a:stretch>
        </p:blipFill>
        <p:spPr>
          <a:xfrm>
            <a:off x="2044548" y="1143000"/>
            <a:ext cx="8102600" cy="5303520"/>
          </a:xfrm>
          <a:prstGeom prst="rect">
            <a:avLst/>
          </a:prstGeom>
        </p:spPr>
      </p:pic>
      <p:sp>
        <p:nvSpPr>
          <p:cNvPr id="4" name="Text 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8A97A6"/>
                </a:solidFill>
                <a:latin typeface="Calibri" pitchFamily="34" charset="0"/>
                <a:ea typeface="Calibri" pitchFamily="34" charset="-122"/>
                <a:cs typeface="Calibri" pitchFamily="34" charset="-120"/>
              </a:rPr>
              <a:t>5 / 15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3152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A simulated plant under five attacks</a:t>
            </a:r>
            <a:endParaRPr lang="en-US" sz="3200" dirty="0"/>
          </a:p>
        </p:txBody>
      </p:sp>
      <p:sp>
        <p:nvSpPr>
          <p:cNvPr id="3" name="Text 1"/>
          <p:cNvSpPr txBox="1"/>
          <p:nvPr/>
        </p:nvSpPr>
        <p:spPr>
          <a:xfrm>
            <a:off x="548640" y="1042416"/>
            <a:ext cx="11094415" cy="411480"/>
          </a:xfrm>
          <a:prstGeom prst="rect">
            <a:avLst/>
          </a:prstGeom>
          <a:noFill/>
          <a:ln/>
        </p:spPr>
        <p:txBody>
          <a:bodyPr wrap="square" lIns="0" tIns="0" rIns="0" bIns="0" rtlCol="0" anchor="ctr"/>
          <a:lstStyle/>
          <a:p>
            <a:pPr indent="0" marL="0">
              <a:buNone/>
            </a:pPr>
            <a:r>
              <a:rPr lang="en-US" sz="1600" dirty="0">
                <a:solidFill>
                  <a:srgbClr val="5C6B7A"/>
                </a:solidFill>
                <a:latin typeface="Calibri" pitchFamily="34" charset="0"/>
                <a:ea typeface="Calibri" pitchFamily="34" charset="-122"/>
                <a:cs typeface="Calibri" pitchFamily="34" charset="-120"/>
              </a:rPr>
              <a:t>510 s of operation: 60 s normal, then each attack for 45 s with 45 s of normal in between</a:t>
            </a:r>
            <a:endParaRPr lang="en-US" sz="1600" dirty="0"/>
          </a:p>
        </p:txBody>
      </p:sp>
      <p:pic>
        <p:nvPicPr>
          <p:cNvPr id="4" name="Image 0" descr="C:\Users\sunanda\Desktop\fyp\report\figures\dataset_timeline.png">    </p:cNvPr>
          <p:cNvPicPr>
            <a:picLocks noChangeAspect="1"/>
          </p:cNvPicPr>
          <p:nvPr/>
        </p:nvPicPr>
        <p:blipFill>
          <a:blip r:embed="rId1"/>
          <a:stretch>
            <a:fillRect/>
          </a:stretch>
        </p:blipFill>
        <p:spPr>
          <a:xfrm>
            <a:off x="548640" y="1917746"/>
            <a:ext cx="6766560" cy="3936908"/>
          </a:xfrm>
          <a:prstGeom prst="rect">
            <a:avLst/>
          </a:prstGeom>
        </p:spPr>
      </p:pic>
      <p:sp>
        <p:nvSpPr>
          <p:cNvPr id="5" name="Shape 2"/>
          <p:cNvSpPr/>
          <p:nvPr/>
        </p:nvSpPr>
        <p:spPr>
          <a:xfrm>
            <a:off x="7726680" y="1810512"/>
            <a:ext cx="274320" cy="274320"/>
          </a:xfrm>
          <a:prstGeom prst="ellipse">
            <a:avLst/>
          </a:prstGeom>
          <a:solidFill>
            <a:srgbClr val="D64545"/>
          </a:solidFill>
          <a:ln w="12700">
            <a:solidFill>
              <a:srgbClr val="D64545"/>
            </a:solidFill>
            <a:prstDash val="solid"/>
          </a:ln>
        </p:spPr>
      </p:sp>
      <p:sp>
        <p:nvSpPr>
          <p:cNvPr id="6" name="Text 3"/>
          <p:cNvSpPr txBox="1"/>
          <p:nvPr/>
        </p:nvSpPr>
        <p:spPr>
          <a:xfrm>
            <a:off x="8183880" y="1737360"/>
            <a:ext cx="3474720" cy="365760"/>
          </a:xfrm>
          <a:prstGeom prst="rect">
            <a:avLst/>
          </a:prstGeom>
          <a:noFill/>
          <a:ln/>
        </p:spPr>
        <p:txBody>
          <a:bodyPr wrap="square" lIns="0" tIns="0" rIns="0" bIns="0" rtlCol="0" anchor="ctr"/>
          <a:lstStyle/>
          <a:p>
            <a:pPr indent="0" marL="0">
              <a:buNone/>
            </a:pPr>
            <a:r>
              <a:rPr lang="en-US" sz="1600" b="1" dirty="0">
                <a:solidFill>
                  <a:srgbClr val="1B263B"/>
                </a:solidFill>
                <a:latin typeface="Calibri" pitchFamily="34" charset="0"/>
                <a:ea typeface="Calibri" pitchFamily="34" charset="-122"/>
                <a:cs typeface="Calibri" pitchFamily="34" charset="-120"/>
              </a:rPr>
              <a:t>False data injection</a:t>
            </a:r>
            <a:endParaRPr lang="en-US" sz="1600" dirty="0"/>
          </a:p>
        </p:txBody>
      </p:sp>
      <p:sp>
        <p:nvSpPr>
          <p:cNvPr id="7" name="Text 4"/>
          <p:cNvSpPr txBox="1"/>
          <p:nvPr/>
        </p:nvSpPr>
        <p:spPr>
          <a:xfrm>
            <a:off x="8183880" y="2103120"/>
            <a:ext cx="3474720" cy="365760"/>
          </a:xfrm>
          <a:prstGeom prst="rect">
            <a:avLst/>
          </a:prstGeom>
          <a:noFill/>
          <a:ln/>
        </p:spPr>
        <p:txBody>
          <a:bodyPr wrap="square" lIns="0" tIns="0" rIns="0" bIns="0" rtlCol="0" anchor="ctr"/>
          <a:lstStyle/>
          <a:p>
            <a:pPr indent="0" marL="0">
              <a:buNone/>
            </a:pPr>
            <a:r>
              <a:rPr lang="en-US" sz="1300" dirty="0">
                <a:solidFill>
                  <a:srgbClr val="5C6B7A"/>
                </a:solidFill>
                <a:latin typeface="Calibri" pitchFamily="34" charset="0"/>
                <a:ea typeface="Calibri" pitchFamily="34" charset="-122"/>
                <a:cs typeface="Calibri" pitchFamily="34" charset="-120"/>
              </a:rPr>
              <a:t>Fakes the tank level (1180 mm)</a:t>
            </a:r>
            <a:endParaRPr lang="en-US" sz="1300" dirty="0"/>
          </a:p>
        </p:txBody>
      </p:sp>
      <p:sp>
        <p:nvSpPr>
          <p:cNvPr id="8" name="Shape 5"/>
          <p:cNvSpPr/>
          <p:nvPr/>
        </p:nvSpPr>
        <p:spPr>
          <a:xfrm>
            <a:off x="7726680" y="2706624"/>
            <a:ext cx="274320" cy="274320"/>
          </a:xfrm>
          <a:prstGeom prst="ellipse">
            <a:avLst/>
          </a:prstGeom>
          <a:solidFill>
            <a:srgbClr val="D64545"/>
          </a:solidFill>
          <a:ln w="12700">
            <a:solidFill>
              <a:srgbClr val="D64545"/>
            </a:solidFill>
            <a:prstDash val="solid"/>
          </a:ln>
        </p:spPr>
      </p:sp>
      <p:sp>
        <p:nvSpPr>
          <p:cNvPr id="9" name="Text 6"/>
          <p:cNvSpPr txBox="1"/>
          <p:nvPr/>
        </p:nvSpPr>
        <p:spPr>
          <a:xfrm>
            <a:off x="8183880" y="2633472"/>
            <a:ext cx="3474720" cy="365760"/>
          </a:xfrm>
          <a:prstGeom prst="rect">
            <a:avLst/>
          </a:prstGeom>
          <a:noFill/>
          <a:ln/>
        </p:spPr>
        <p:txBody>
          <a:bodyPr wrap="square" lIns="0" tIns="0" rIns="0" bIns="0" rtlCol="0" anchor="ctr"/>
          <a:lstStyle/>
          <a:p>
            <a:pPr indent="0" marL="0">
              <a:buNone/>
            </a:pPr>
            <a:r>
              <a:rPr lang="en-US" sz="1600" b="1" dirty="0">
                <a:solidFill>
                  <a:srgbClr val="1B263B"/>
                </a:solidFill>
                <a:latin typeface="Calibri" pitchFamily="34" charset="0"/>
                <a:ea typeface="Calibri" pitchFamily="34" charset="-122"/>
                <a:cs typeface="Calibri" pitchFamily="34" charset="-120"/>
              </a:rPr>
              <a:t>Command injection</a:t>
            </a:r>
            <a:endParaRPr lang="en-US" sz="1600" dirty="0"/>
          </a:p>
        </p:txBody>
      </p:sp>
      <p:sp>
        <p:nvSpPr>
          <p:cNvPr id="10" name="Text 7"/>
          <p:cNvSpPr txBox="1"/>
          <p:nvPr/>
        </p:nvSpPr>
        <p:spPr>
          <a:xfrm>
            <a:off x="8183880" y="2999232"/>
            <a:ext cx="3474720" cy="365760"/>
          </a:xfrm>
          <a:prstGeom prst="rect">
            <a:avLst/>
          </a:prstGeom>
          <a:noFill/>
          <a:ln/>
        </p:spPr>
        <p:txBody>
          <a:bodyPr wrap="square" lIns="0" tIns="0" rIns="0" bIns="0" rtlCol="0" anchor="ctr"/>
          <a:lstStyle/>
          <a:p>
            <a:pPr indent="0" marL="0">
              <a:buNone/>
            </a:pPr>
            <a:r>
              <a:rPr lang="en-US" sz="1300" dirty="0">
                <a:solidFill>
                  <a:srgbClr val="5C6B7A"/>
                </a:solidFill>
                <a:latin typeface="Calibri" pitchFamily="34" charset="0"/>
                <a:ea typeface="Calibri" pitchFamily="34" charset="-122"/>
                <a:cs typeface="Calibri" pitchFamily="34" charset="-120"/>
              </a:rPr>
              <a:t>Forces the transfer pump off</a:t>
            </a:r>
            <a:endParaRPr lang="en-US" sz="1300" dirty="0"/>
          </a:p>
        </p:txBody>
      </p:sp>
      <p:sp>
        <p:nvSpPr>
          <p:cNvPr id="11" name="Shape 8"/>
          <p:cNvSpPr/>
          <p:nvPr/>
        </p:nvSpPr>
        <p:spPr>
          <a:xfrm>
            <a:off x="7726680" y="3602736"/>
            <a:ext cx="274320" cy="274320"/>
          </a:xfrm>
          <a:prstGeom prst="ellipse">
            <a:avLst/>
          </a:prstGeom>
          <a:solidFill>
            <a:srgbClr val="D64545"/>
          </a:solidFill>
          <a:ln w="12700">
            <a:solidFill>
              <a:srgbClr val="D64545"/>
            </a:solidFill>
            <a:prstDash val="solid"/>
          </a:ln>
        </p:spPr>
      </p:sp>
      <p:sp>
        <p:nvSpPr>
          <p:cNvPr id="12" name="Text 9"/>
          <p:cNvSpPr txBox="1"/>
          <p:nvPr/>
        </p:nvSpPr>
        <p:spPr>
          <a:xfrm>
            <a:off x="8183880" y="3529584"/>
            <a:ext cx="3474720" cy="365760"/>
          </a:xfrm>
          <a:prstGeom prst="rect">
            <a:avLst/>
          </a:prstGeom>
          <a:noFill/>
          <a:ln/>
        </p:spPr>
        <p:txBody>
          <a:bodyPr wrap="square" lIns="0" tIns="0" rIns="0" bIns="0" rtlCol="0" anchor="ctr"/>
          <a:lstStyle/>
          <a:p>
            <a:pPr indent="0" marL="0">
              <a:buNone/>
            </a:pPr>
            <a:r>
              <a:rPr lang="en-US" sz="1600" b="1" dirty="0">
                <a:solidFill>
                  <a:srgbClr val="1B263B"/>
                </a:solidFill>
                <a:latin typeface="Calibri" pitchFamily="34" charset="0"/>
                <a:ea typeface="Calibri" pitchFamily="34" charset="-122"/>
                <a:cs typeface="Calibri" pitchFamily="34" charset="-120"/>
              </a:rPr>
              <a:t>Flooding (DoS)</a:t>
            </a:r>
            <a:endParaRPr lang="en-US" sz="1600" dirty="0"/>
          </a:p>
        </p:txBody>
      </p:sp>
      <p:sp>
        <p:nvSpPr>
          <p:cNvPr id="13" name="Text 10"/>
          <p:cNvSpPr txBox="1"/>
          <p:nvPr/>
        </p:nvSpPr>
        <p:spPr>
          <a:xfrm>
            <a:off x="8183880" y="3895344"/>
            <a:ext cx="3474720" cy="365760"/>
          </a:xfrm>
          <a:prstGeom prst="rect">
            <a:avLst/>
          </a:prstGeom>
          <a:noFill/>
          <a:ln/>
        </p:spPr>
        <p:txBody>
          <a:bodyPr wrap="square" lIns="0" tIns="0" rIns="0" bIns="0" rtlCol="0" anchor="ctr"/>
          <a:lstStyle/>
          <a:p>
            <a:pPr indent="0" marL="0">
              <a:buNone/>
            </a:pPr>
            <a:r>
              <a:rPr lang="en-US" sz="1300" dirty="0">
                <a:solidFill>
                  <a:srgbClr val="5C6B7A"/>
                </a:solidFill>
                <a:latin typeface="Calibri" pitchFamily="34" charset="0"/>
                <a:ea typeface="Calibri" pitchFamily="34" charset="-122"/>
                <a:cs typeface="Calibri" pitchFamily="34" charset="-120"/>
              </a:rPr>
              <a:t>40 read requests per second</a:t>
            </a:r>
            <a:endParaRPr lang="en-US" sz="1300" dirty="0"/>
          </a:p>
        </p:txBody>
      </p:sp>
      <p:sp>
        <p:nvSpPr>
          <p:cNvPr id="14" name="Shape 11"/>
          <p:cNvSpPr/>
          <p:nvPr/>
        </p:nvSpPr>
        <p:spPr>
          <a:xfrm>
            <a:off x="7726680" y="4498848"/>
            <a:ext cx="274320" cy="274320"/>
          </a:xfrm>
          <a:prstGeom prst="ellipse">
            <a:avLst/>
          </a:prstGeom>
          <a:solidFill>
            <a:srgbClr val="D64545"/>
          </a:solidFill>
          <a:ln w="12700">
            <a:solidFill>
              <a:srgbClr val="D64545"/>
            </a:solidFill>
            <a:prstDash val="solid"/>
          </a:ln>
        </p:spPr>
      </p:sp>
      <p:sp>
        <p:nvSpPr>
          <p:cNvPr id="15" name="Text 12"/>
          <p:cNvSpPr txBox="1"/>
          <p:nvPr/>
        </p:nvSpPr>
        <p:spPr>
          <a:xfrm>
            <a:off x="8183880" y="4425696"/>
            <a:ext cx="3474720" cy="365760"/>
          </a:xfrm>
          <a:prstGeom prst="rect">
            <a:avLst/>
          </a:prstGeom>
          <a:noFill/>
          <a:ln/>
        </p:spPr>
        <p:txBody>
          <a:bodyPr wrap="square" lIns="0" tIns="0" rIns="0" bIns="0" rtlCol="0" anchor="ctr"/>
          <a:lstStyle/>
          <a:p>
            <a:pPr indent="0" marL="0">
              <a:buNone/>
            </a:pPr>
            <a:r>
              <a:rPr lang="en-US" sz="1600" b="1" dirty="0">
                <a:solidFill>
                  <a:srgbClr val="1B263B"/>
                </a:solidFill>
                <a:latin typeface="Calibri" pitchFamily="34" charset="0"/>
                <a:ea typeface="Calibri" pitchFamily="34" charset="-122"/>
                <a:cs typeface="Calibri" pitchFamily="34" charset="-120"/>
              </a:rPr>
              <a:t>Replay</a:t>
            </a:r>
            <a:endParaRPr lang="en-US" sz="1600" dirty="0"/>
          </a:p>
        </p:txBody>
      </p:sp>
      <p:sp>
        <p:nvSpPr>
          <p:cNvPr id="16" name="Text 13"/>
          <p:cNvSpPr txBox="1"/>
          <p:nvPr/>
        </p:nvSpPr>
        <p:spPr>
          <a:xfrm>
            <a:off x="8183880" y="4791456"/>
            <a:ext cx="3474720" cy="365760"/>
          </a:xfrm>
          <a:prstGeom prst="rect">
            <a:avLst/>
          </a:prstGeom>
          <a:noFill/>
          <a:ln/>
        </p:spPr>
        <p:txBody>
          <a:bodyPr wrap="square" lIns="0" tIns="0" rIns="0" bIns="0" rtlCol="0" anchor="ctr"/>
          <a:lstStyle/>
          <a:p>
            <a:pPr indent="0" marL="0">
              <a:buNone/>
            </a:pPr>
            <a:r>
              <a:rPr lang="en-US" sz="1300" dirty="0">
                <a:solidFill>
                  <a:srgbClr val="5C6B7A"/>
                </a:solidFill>
                <a:latin typeface="Calibri" pitchFamily="34" charset="0"/>
                <a:ea typeface="Calibri" pitchFamily="34" charset="-122"/>
                <a:cs typeface="Calibri" pitchFamily="34" charset="-120"/>
              </a:rPr>
              <a:t>Re-sends a recorded command</a:t>
            </a:r>
            <a:endParaRPr lang="en-US" sz="1300" dirty="0"/>
          </a:p>
        </p:txBody>
      </p:sp>
      <p:sp>
        <p:nvSpPr>
          <p:cNvPr id="17" name="Shape 14"/>
          <p:cNvSpPr/>
          <p:nvPr/>
        </p:nvSpPr>
        <p:spPr>
          <a:xfrm>
            <a:off x="7726680" y="5394960"/>
            <a:ext cx="274320" cy="274320"/>
          </a:xfrm>
          <a:prstGeom prst="ellipse">
            <a:avLst/>
          </a:prstGeom>
          <a:solidFill>
            <a:srgbClr val="D64545"/>
          </a:solidFill>
          <a:ln w="12700">
            <a:solidFill>
              <a:srgbClr val="D64545"/>
            </a:solidFill>
            <a:prstDash val="solid"/>
          </a:ln>
        </p:spPr>
      </p:sp>
      <p:sp>
        <p:nvSpPr>
          <p:cNvPr id="18" name="Text 15"/>
          <p:cNvSpPr txBox="1"/>
          <p:nvPr/>
        </p:nvSpPr>
        <p:spPr>
          <a:xfrm>
            <a:off x="8183880" y="5321808"/>
            <a:ext cx="3474720" cy="365760"/>
          </a:xfrm>
          <a:prstGeom prst="rect">
            <a:avLst/>
          </a:prstGeom>
          <a:noFill/>
          <a:ln/>
        </p:spPr>
        <p:txBody>
          <a:bodyPr wrap="square" lIns="0" tIns="0" rIns="0" bIns="0" rtlCol="0" anchor="ctr"/>
          <a:lstStyle/>
          <a:p>
            <a:pPr indent="0" marL="0">
              <a:buNone/>
            </a:pPr>
            <a:r>
              <a:rPr lang="en-US" sz="1600" b="1" dirty="0">
                <a:solidFill>
                  <a:srgbClr val="1B263B"/>
                </a:solidFill>
                <a:latin typeface="Calibri" pitchFamily="34" charset="0"/>
                <a:ea typeface="Calibri" pitchFamily="34" charset="-122"/>
                <a:cs typeface="Calibri" pitchFamily="34" charset="-120"/>
              </a:rPr>
              <a:t>Stealth</a:t>
            </a:r>
            <a:endParaRPr lang="en-US" sz="1600" dirty="0"/>
          </a:p>
        </p:txBody>
      </p:sp>
      <p:sp>
        <p:nvSpPr>
          <p:cNvPr id="19" name="Text 16"/>
          <p:cNvSpPr txBox="1"/>
          <p:nvPr/>
        </p:nvSpPr>
        <p:spPr>
          <a:xfrm>
            <a:off x="8183880" y="5687568"/>
            <a:ext cx="3474720" cy="365760"/>
          </a:xfrm>
          <a:prstGeom prst="rect">
            <a:avLst/>
          </a:prstGeom>
          <a:noFill/>
          <a:ln/>
        </p:spPr>
        <p:txBody>
          <a:bodyPr wrap="square" lIns="0" tIns="0" rIns="0" bIns="0" rtlCol="0" anchor="ctr"/>
          <a:lstStyle/>
          <a:p>
            <a:pPr indent="0" marL="0">
              <a:buNone/>
            </a:pPr>
            <a:r>
              <a:rPr lang="en-US" sz="1300" dirty="0">
                <a:solidFill>
                  <a:srgbClr val="5C6B7A"/>
                </a:solidFill>
                <a:latin typeface="Calibri" pitchFamily="34" charset="0"/>
                <a:ea typeface="Calibri" pitchFamily="34" charset="-122"/>
                <a:cs typeface="Calibri" pitchFamily="34" charset="-120"/>
              </a:rPr>
              <a:t>Compromised HMI holds the acid pump on</a:t>
            </a:r>
            <a:endParaRPr lang="en-US" sz="1300" dirty="0"/>
          </a:p>
        </p:txBody>
      </p:sp>
      <p:sp>
        <p:nvSpPr>
          <p:cNvPr id="20" name="Text 17"/>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8A97A6"/>
                </a:solidFill>
                <a:latin typeface="Calibri" pitchFamily="34" charset="0"/>
                <a:ea typeface="Calibri" pitchFamily="34" charset="-122"/>
                <a:cs typeface="Calibri" pitchFamily="34" charset="-120"/>
              </a:rPr>
              <a:t>6 / 15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3152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Layer 1: protocol-aware rule engine</a:t>
            </a:r>
            <a:endParaRPr lang="en-US" sz="3200" dirty="0"/>
          </a:p>
        </p:txBody>
      </p:sp>
      <p:sp>
        <p:nvSpPr>
          <p:cNvPr id="3" name="Shape 1"/>
          <p:cNvSpPr/>
          <p:nvPr/>
        </p:nvSpPr>
        <p:spPr>
          <a:xfrm>
            <a:off x="548640" y="1325880"/>
            <a:ext cx="5486400" cy="914400"/>
          </a:xfrm>
          <a:prstGeom prst="roundRect">
            <a:avLst>
              <a:gd name="adj" fmla="val 8000"/>
            </a:avLst>
          </a:prstGeom>
          <a:solidFill>
            <a:srgbClr val="F1F6F8"/>
          </a:solidFill>
          <a:ln w="12700">
            <a:solidFill>
              <a:srgbClr val="F1F6F8"/>
            </a:solidFill>
            <a:prstDash val="solid"/>
          </a:ln>
        </p:spPr>
      </p:sp>
      <p:sp>
        <p:nvSpPr>
          <p:cNvPr id="4" name="Shape 2"/>
          <p:cNvSpPr/>
          <p:nvPr/>
        </p:nvSpPr>
        <p:spPr>
          <a:xfrm>
            <a:off x="749808" y="1508760"/>
            <a:ext cx="548640" cy="548640"/>
          </a:xfrm>
          <a:prstGeom prst="ellipse">
            <a:avLst/>
          </a:prstGeom>
          <a:solidFill>
            <a:srgbClr val="13678A"/>
          </a:solidFill>
          <a:ln w="12700">
            <a:solidFill>
              <a:srgbClr val="13678A"/>
            </a:solidFill>
            <a:prstDash val="solid"/>
          </a:ln>
        </p:spPr>
      </p:sp>
      <p:sp>
        <p:nvSpPr>
          <p:cNvPr id="5" name="Text 3"/>
          <p:cNvSpPr txBox="1"/>
          <p:nvPr/>
        </p:nvSpPr>
        <p:spPr>
          <a:xfrm>
            <a:off x="749808" y="15087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1508760" y="1399032"/>
            <a:ext cx="4434840" cy="777240"/>
          </a:xfrm>
          <a:prstGeom prst="rect">
            <a:avLst/>
          </a:prstGeom>
          <a:noFill/>
          <a:ln/>
        </p:spPr>
        <p:txBody>
          <a:bodyPr wrap="square" lIns="0" tIns="0" rIns="0" bIns="0" rtlCol="0" anchor="ctr"/>
          <a:lstStyle/>
          <a:p>
            <a:pPr indent="0" marL="0">
              <a:buNone/>
            </a:pPr>
            <a:r>
              <a:rPr lang="en-US" sz="1400" b="1" dirty="0">
                <a:solidFill>
                  <a:srgbClr val="1B263B"/>
                </a:solidFill>
                <a:latin typeface="Calibri" pitchFamily="34" charset="0"/>
                <a:ea typeface="Calibri" pitchFamily="34" charset="-122"/>
                <a:cs typeface="Calibri" pitchFamily="34" charset="-120"/>
              </a:rPr>
              <a:t>sensor_write</a:t>
            </a:r>
            <a:endParaRPr lang="en-US" sz="1400" dirty="0"/>
          </a:p>
          <a:p>
            <a:pPr indent="0" marL="0">
              <a:buNone/>
            </a:pPr>
            <a:r>
              <a:rPr lang="en-US" sz="1400" dirty="0">
                <a:solidFill>
                  <a:srgbClr val="5C6B7A"/>
                </a:solidFill>
                <a:latin typeface="Calibri" pitchFamily="34" charset="0"/>
                <a:ea typeface="Calibri" pitchFamily="34" charset="-122"/>
                <a:cs typeface="Calibri" pitchFamily="34" charset="-120"/>
              </a:rPr>
              <a:t>A write to a sensor register → false data injection</a:t>
            </a:r>
            <a:endParaRPr lang="en-US" sz="1400" dirty="0"/>
          </a:p>
        </p:txBody>
      </p:sp>
      <p:sp>
        <p:nvSpPr>
          <p:cNvPr id="7" name="Shape 5"/>
          <p:cNvSpPr/>
          <p:nvPr/>
        </p:nvSpPr>
        <p:spPr>
          <a:xfrm>
            <a:off x="548640" y="2423160"/>
            <a:ext cx="5486400" cy="914400"/>
          </a:xfrm>
          <a:prstGeom prst="roundRect">
            <a:avLst>
              <a:gd name="adj" fmla="val 8000"/>
            </a:avLst>
          </a:prstGeom>
          <a:solidFill>
            <a:srgbClr val="F1F6F8"/>
          </a:solidFill>
          <a:ln w="12700">
            <a:solidFill>
              <a:srgbClr val="F1F6F8"/>
            </a:solidFill>
            <a:prstDash val="solid"/>
          </a:ln>
        </p:spPr>
      </p:sp>
      <p:sp>
        <p:nvSpPr>
          <p:cNvPr id="8" name="Shape 6"/>
          <p:cNvSpPr/>
          <p:nvPr/>
        </p:nvSpPr>
        <p:spPr>
          <a:xfrm>
            <a:off x="749808" y="2606040"/>
            <a:ext cx="548640" cy="548640"/>
          </a:xfrm>
          <a:prstGeom prst="ellipse">
            <a:avLst/>
          </a:prstGeom>
          <a:solidFill>
            <a:srgbClr val="13678A"/>
          </a:solidFill>
          <a:ln w="12700">
            <a:solidFill>
              <a:srgbClr val="13678A"/>
            </a:solidFill>
            <a:prstDash val="solid"/>
          </a:ln>
        </p:spPr>
      </p:sp>
      <p:sp>
        <p:nvSpPr>
          <p:cNvPr id="9" name="Text 7"/>
          <p:cNvSpPr txBox="1"/>
          <p:nvPr/>
        </p:nvSpPr>
        <p:spPr>
          <a:xfrm>
            <a:off x="749808" y="26060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8"/>
          <p:cNvSpPr txBox="1"/>
          <p:nvPr/>
        </p:nvSpPr>
        <p:spPr>
          <a:xfrm>
            <a:off x="1508760" y="2496312"/>
            <a:ext cx="4434840" cy="777240"/>
          </a:xfrm>
          <a:prstGeom prst="rect">
            <a:avLst/>
          </a:prstGeom>
          <a:noFill/>
          <a:ln/>
        </p:spPr>
        <p:txBody>
          <a:bodyPr wrap="square" lIns="0" tIns="0" rIns="0" bIns="0" rtlCol="0" anchor="ctr"/>
          <a:lstStyle/>
          <a:p>
            <a:pPr indent="0" marL="0">
              <a:buNone/>
            </a:pPr>
            <a:r>
              <a:rPr lang="en-US" sz="1400" b="1" dirty="0">
                <a:solidFill>
                  <a:srgbClr val="1B263B"/>
                </a:solidFill>
                <a:latin typeface="Calibri" pitchFamily="34" charset="0"/>
                <a:ea typeface="Calibri" pitchFamily="34" charset="-122"/>
                <a:cs typeface="Calibri" pitchFamily="34" charset="-120"/>
              </a:rPr>
              <a:t>unauthorized_writer</a:t>
            </a:r>
            <a:endParaRPr lang="en-US" sz="1400" dirty="0"/>
          </a:p>
          <a:p>
            <a:pPr indent="0" marL="0">
              <a:buNone/>
            </a:pPr>
            <a:r>
              <a:rPr lang="en-US" sz="1400" dirty="0">
                <a:solidFill>
                  <a:srgbClr val="5C6B7A"/>
                </a:solidFill>
                <a:latin typeface="Calibri" pitchFamily="34" charset="0"/>
                <a:ea typeface="Calibri" pitchFamily="34" charset="-122"/>
                <a:cs typeface="Calibri" pitchFamily="34" charset="-120"/>
              </a:rPr>
              <a:t>A write from a source other than the HMI → command injection, replay</a:t>
            </a:r>
            <a:endParaRPr lang="en-US" sz="1400" dirty="0"/>
          </a:p>
        </p:txBody>
      </p:sp>
      <p:sp>
        <p:nvSpPr>
          <p:cNvPr id="11" name="Shape 9"/>
          <p:cNvSpPr/>
          <p:nvPr/>
        </p:nvSpPr>
        <p:spPr>
          <a:xfrm>
            <a:off x="548640" y="3520440"/>
            <a:ext cx="5486400" cy="914400"/>
          </a:xfrm>
          <a:prstGeom prst="roundRect">
            <a:avLst>
              <a:gd name="adj" fmla="val 8000"/>
            </a:avLst>
          </a:prstGeom>
          <a:solidFill>
            <a:srgbClr val="F1F6F8"/>
          </a:solidFill>
          <a:ln w="12700">
            <a:solidFill>
              <a:srgbClr val="F1F6F8"/>
            </a:solidFill>
            <a:prstDash val="solid"/>
          </a:ln>
        </p:spPr>
      </p:sp>
      <p:sp>
        <p:nvSpPr>
          <p:cNvPr id="12" name="Shape 10"/>
          <p:cNvSpPr/>
          <p:nvPr/>
        </p:nvSpPr>
        <p:spPr>
          <a:xfrm>
            <a:off x="749808" y="3703320"/>
            <a:ext cx="548640" cy="548640"/>
          </a:xfrm>
          <a:prstGeom prst="ellipse">
            <a:avLst/>
          </a:prstGeom>
          <a:solidFill>
            <a:srgbClr val="13678A"/>
          </a:solidFill>
          <a:ln w="12700">
            <a:solidFill>
              <a:srgbClr val="13678A"/>
            </a:solidFill>
            <a:prstDash val="solid"/>
          </a:ln>
        </p:spPr>
      </p:sp>
      <p:sp>
        <p:nvSpPr>
          <p:cNvPr id="13" name="Text 11"/>
          <p:cNvSpPr txBox="1"/>
          <p:nvPr/>
        </p:nvSpPr>
        <p:spPr>
          <a:xfrm>
            <a:off x="749808" y="3703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4" name="Text 12"/>
          <p:cNvSpPr txBox="1"/>
          <p:nvPr/>
        </p:nvSpPr>
        <p:spPr>
          <a:xfrm>
            <a:off x="1508760" y="3593592"/>
            <a:ext cx="4434840" cy="777240"/>
          </a:xfrm>
          <a:prstGeom prst="rect">
            <a:avLst/>
          </a:prstGeom>
          <a:noFill/>
          <a:ln/>
        </p:spPr>
        <p:txBody>
          <a:bodyPr wrap="square" lIns="0" tIns="0" rIns="0" bIns="0" rtlCol="0" anchor="ctr"/>
          <a:lstStyle/>
          <a:p>
            <a:pPr indent="0" marL="0">
              <a:buNone/>
            </a:pPr>
            <a:r>
              <a:rPr lang="en-US" sz="1400" b="1" dirty="0">
                <a:solidFill>
                  <a:srgbClr val="1B263B"/>
                </a:solidFill>
                <a:latin typeface="Calibri" pitchFamily="34" charset="0"/>
                <a:ea typeface="Calibri" pitchFamily="34" charset="-122"/>
                <a:cs typeface="Calibri" pitchFamily="34" charset="-120"/>
              </a:rPr>
              <a:t>out_of_band_setpoint</a:t>
            </a:r>
            <a:endParaRPr lang="en-US" sz="1400" dirty="0"/>
          </a:p>
          <a:p>
            <a:pPr indent="0" marL="0">
              <a:buNone/>
            </a:pPr>
            <a:r>
              <a:rPr lang="en-US" sz="1400" dirty="0">
                <a:solidFill>
                  <a:srgbClr val="5C6B7A"/>
                </a:solidFill>
                <a:latin typeface="Calibri" pitchFamily="34" charset="0"/>
                <a:ea typeface="Calibri" pitchFamily="34" charset="-122"/>
                <a:cs typeface="Calibri" pitchFamily="34" charset="-120"/>
              </a:rPr>
              <a:t>An authorised write with an illegal or out-of-range value</a:t>
            </a:r>
            <a:endParaRPr lang="en-US" sz="1400" dirty="0"/>
          </a:p>
        </p:txBody>
      </p:sp>
      <p:sp>
        <p:nvSpPr>
          <p:cNvPr id="15" name="Shape 13"/>
          <p:cNvSpPr/>
          <p:nvPr/>
        </p:nvSpPr>
        <p:spPr>
          <a:xfrm>
            <a:off x="6400800" y="1325880"/>
            <a:ext cx="5239512" cy="2377440"/>
          </a:xfrm>
          <a:prstGeom prst="roundRect">
            <a:avLst>
              <a:gd name="adj" fmla="val 3077"/>
            </a:avLst>
          </a:prstGeom>
          <a:solidFill>
            <a:srgbClr val="FBE3E1"/>
          </a:solidFill>
          <a:ln w="12700">
            <a:solidFill>
              <a:srgbClr val="FBE3E1"/>
            </a:solidFill>
            <a:prstDash val="solid"/>
          </a:ln>
        </p:spPr>
      </p:sp>
      <p:sp>
        <p:nvSpPr>
          <p:cNvPr id="16" name="Text 14"/>
          <p:cNvSpPr txBox="1"/>
          <p:nvPr/>
        </p:nvSpPr>
        <p:spPr>
          <a:xfrm>
            <a:off x="6675120" y="1463040"/>
            <a:ext cx="4754880" cy="365760"/>
          </a:xfrm>
          <a:prstGeom prst="rect">
            <a:avLst/>
          </a:prstGeom>
          <a:noFill/>
          <a:ln/>
        </p:spPr>
        <p:txBody>
          <a:bodyPr wrap="square" lIns="0" tIns="0" rIns="0" bIns="0" rtlCol="0" anchor="ctr"/>
          <a:lstStyle/>
          <a:p>
            <a:pPr indent="0" marL="0">
              <a:buNone/>
            </a:pPr>
            <a:r>
              <a:rPr lang="en-US" sz="1300" b="1" dirty="0">
                <a:solidFill>
                  <a:srgbClr val="D64545"/>
                </a:solidFill>
                <a:latin typeface="Calibri" pitchFamily="34" charset="0"/>
                <a:ea typeface="Calibri" pitchFamily="34" charset="-122"/>
                <a:cs typeface="Calibri" pitchFamily="34" charset="-120"/>
              </a:rPr>
              <a:t>Example alert</a:t>
            </a:r>
            <a:endParaRPr lang="en-US" sz="1300" dirty="0"/>
          </a:p>
        </p:txBody>
      </p:sp>
      <p:sp>
        <p:nvSpPr>
          <p:cNvPr id="17" name="Text 15"/>
          <p:cNvSpPr txBox="1"/>
          <p:nvPr/>
        </p:nvSpPr>
        <p:spPr>
          <a:xfrm>
            <a:off x="6675120" y="1874520"/>
            <a:ext cx="4754880" cy="1737360"/>
          </a:xfrm>
          <a:prstGeom prst="rect">
            <a:avLst/>
          </a:prstGeom>
          <a:noFill/>
          <a:ln/>
        </p:spPr>
        <p:txBody>
          <a:bodyPr wrap="square" lIns="0" tIns="0" rIns="0" bIns="0" rtlCol="0" anchor="t"/>
          <a:lstStyle/>
          <a:p>
            <a:pPr indent="0" marL="0">
              <a:buNone/>
            </a:pPr>
            <a:r>
              <a:rPr lang="en-US" sz="1600" i="1" dirty="0">
                <a:solidFill>
                  <a:srgbClr val="1B263B"/>
                </a:solidFill>
                <a:latin typeface="Calibri" pitchFamily="34" charset="0"/>
                <a:ea typeface="Calibri" pitchFamily="34" charset="-122"/>
                <a:cs typeface="Calibri" pitchFamily="34" charset="-120"/>
              </a:rPr>
              <a:t>“Unauthorised source 10.0.0.66 issued a WRITE to P101 (Raw water transfer pump) = 0.0 state, targeting 10.0.0.2. No such source is permitted to command actuators - likely command injection.”</a:t>
            </a:r>
            <a:endParaRPr lang="en-US" sz="1600" dirty="0"/>
          </a:p>
        </p:txBody>
      </p:sp>
      <p:sp>
        <p:nvSpPr>
          <p:cNvPr id="18" name="Text 16"/>
          <p:cNvSpPr txBox="1"/>
          <p:nvPr/>
        </p:nvSpPr>
        <p:spPr>
          <a:xfrm>
            <a:off x="6400800" y="4069080"/>
            <a:ext cx="2514600" cy="1463040"/>
          </a:xfrm>
          <a:prstGeom prst="rect">
            <a:avLst/>
          </a:prstGeom>
          <a:noFill/>
          <a:ln/>
        </p:spPr>
        <p:txBody>
          <a:bodyPr wrap="square" lIns="0" tIns="0" rIns="0" bIns="0" rtlCol="0" anchor="t"/>
          <a:lstStyle/>
          <a:p>
            <a:pPr indent="0" marL="0">
              <a:buNone/>
            </a:pPr>
            <a:r>
              <a:rPr lang="en-US" sz="3600" b="1" dirty="0">
                <a:solidFill>
                  <a:srgbClr val="13678A"/>
                </a:solidFill>
                <a:latin typeface="Calibri" pitchFamily="34" charset="0"/>
                <a:ea typeface="Calibri" pitchFamily="34" charset="-122"/>
                <a:cs typeface="Calibri" pitchFamily="34" charset="-120"/>
              </a:rPr>
              <a:t>100%</a:t>
            </a:r>
            <a:endParaRPr lang="en-US" sz="3600" dirty="0"/>
          </a:p>
          <a:p>
            <a:pPr indent="0" marL="0">
              <a:buNone/>
            </a:pPr>
            <a:r>
              <a:rPr lang="en-US" sz="1300" dirty="0">
                <a:solidFill>
                  <a:srgbClr val="5C6B7A"/>
                </a:solidFill>
                <a:latin typeface="Calibri" pitchFamily="34" charset="0"/>
                <a:ea typeface="Calibri" pitchFamily="34" charset="-122"/>
                <a:cs typeface="Calibri" pitchFamily="34" charset="-120"/>
              </a:rPr>
              <a:t>of false-data-injection, command-injection and replay writes flagged</a:t>
            </a:r>
            <a:endParaRPr lang="en-US" sz="3600" dirty="0"/>
          </a:p>
        </p:txBody>
      </p:sp>
      <p:sp>
        <p:nvSpPr>
          <p:cNvPr id="19" name="Text 17"/>
          <p:cNvSpPr txBox="1"/>
          <p:nvPr/>
        </p:nvSpPr>
        <p:spPr>
          <a:xfrm>
            <a:off x="9098280" y="4069080"/>
            <a:ext cx="2514600" cy="1463040"/>
          </a:xfrm>
          <a:prstGeom prst="rect">
            <a:avLst/>
          </a:prstGeom>
          <a:noFill/>
          <a:ln/>
        </p:spPr>
        <p:txBody>
          <a:bodyPr wrap="square" lIns="0" tIns="0" rIns="0" bIns="0" rtlCol="0" anchor="t"/>
          <a:lstStyle/>
          <a:p>
            <a:pPr indent="0" marL="0">
              <a:buNone/>
            </a:pPr>
            <a:r>
              <a:rPr lang="en-US" sz="3600" b="1" dirty="0">
                <a:solidFill>
                  <a:srgbClr val="13678A"/>
                </a:solidFill>
                <a:latin typeface="Calibri" pitchFamily="34" charset="0"/>
                <a:ea typeface="Calibri" pitchFamily="34" charset="-122"/>
                <a:cs typeface="Calibri" pitchFamily="34" charset="-120"/>
              </a:rPr>
              <a:t>0 / 628</a:t>
            </a:r>
            <a:endParaRPr lang="en-US" sz="3600" dirty="0"/>
          </a:p>
          <a:p>
            <a:pPr indent="0" marL="0">
              <a:buNone/>
            </a:pPr>
            <a:r>
              <a:rPr lang="en-US" sz="1300" dirty="0">
                <a:solidFill>
                  <a:srgbClr val="5C6B7A"/>
                </a:solidFill>
                <a:latin typeface="Calibri" pitchFamily="34" charset="0"/>
                <a:ea typeface="Calibri" pitchFamily="34" charset="-122"/>
                <a:cs typeface="Calibri" pitchFamily="34" charset="-120"/>
              </a:rPr>
              <a:t>normal requests flagged</a:t>
            </a:r>
            <a:endParaRPr lang="en-US" sz="3600" dirty="0"/>
          </a:p>
        </p:txBody>
      </p:sp>
      <p:sp>
        <p:nvSpPr>
          <p:cNvPr id="20" name="Text 18"/>
          <p:cNvSpPr txBox="1"/>
          <p:nvPr/>
        </p:nvSpPr>
        <p:spPr>
          <a:xfrm>
            <a:off x="548640" y="4800600"/>
            <a:ext cx="5486400" cy="822960"/>
          </a:xfrm>
          <a:prstGeom prst="rect">
            <a:avLst/>
          </a:prstGeom>
          <a:noFill/>
          <a:ln/>
        </p:spPr>
        <p:txBody>
          <a:bodyPr wrap="square" lIns="0" tIns="0" rIns="0" bIns="0" rtlCol="0" anchor="t"/>
          <a:lstStyle/>
          <a:p>
            <a:pPr indent="0" marL="0">
              <a:buNone/>
            </a:pPr>
            <a:r>
              <a:rPr lang="en-US" sz="1600" dirty="0">
                <a:solidFill>
                  <a:srgbClr val="1B263B"/>
                </a:solidFill>
                <a:latin typeface="Calibri" pitchFamily="34" charset="0"/>
                <a:ea typeface="Calibri" pitchFamily="34" charset="-122"/>
                <a:cs typeface="Calibri" pitchFamily="34" charset="-120"/>
              </a:rPr>
              <a:t>Blind spots by design: floods of valid reads, and valid commands from the authorised HMI.</a:t>
            </a:r>
            <a:endParaRPr lang="en-US" sz="1600" dirty="0"/>
          </a:p>
        </p:txBody>
      </p:sp>
      <p:sp>
        <p:nvSpPr>
          <p:cNvPr id="21" name="Text 19"/>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8A97A6"/>
                </a:solidFill>
                <a:latin typeface="Calibri" pitchFamily="34" charset="0"/>
                <a:ea typeface="Calibri" pitchFamily="34" charset="-122"/>
                <a:cs typeface="Calibri" pitchFamily="34" charset="-120"/>
              </a:rPr>
              <a:t>7 / 15</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3152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Layers 2 and 3: flow monitor and LSTM</a:t>
            </a:r>
            <a:endParaRPr lang="en-US" sz="3200" dirty="0"/>
          </a:p>
        </p:txBody>
      </p:sp>
      <p:sp>
        <p:nvSpPr>
          <p:cNvPr id="3" name="Shape 1"/>
          <p:cNvSpPr/>
          <p:nvPr/>
        </p:nvSpPr>
        <p:spPr>
          <a:xfrm>
            <a:off x="548640" y="1280160"/>
            <a:ext cx="5349240" cy="4754880"/>
          </a:xfrm>
          <a:prstGeom prst="roundRect">
            <a:avLst>
              <a:gd name="adj" fmla="val 1538"/>
            </a:avLst>
          </a:prstGeom>
          <a:solidFill>
            <a:srgbClr val="F1F6F8"/>
          </a:solidFill>
          <a:ln w="12700">
            <a:solidFill>
              <a:srgbClr val="F1F6F8"/>
            </a:solidFill>
            <a:prstDash val="solid"/>
          </a:ln>
        </p:spPr>
      </p:sp>
      <p:sp>
        <p:nvSpPr>
          <p:cNvPr id="4" name="Shape 2"/>
          <p:cNvSpPr/>
          <p:nvPr/>
        </p:nvSpPr>
        <p:spPr>
          <a:xfrm>
            <a:off x="822960" y="1508760"/>
            <a:ext cx="685800" cy="685800"/>
          </a:xfrm>
          <a:prstGeom prst="ellipse">
            <a:avLst/>
          </a:prstGeom>
          <a:solidFill>
            <a:srgbClr val="B7791F"/>
          </a:solidFill>
          <a:ln w="12700">
            <a:solidFill>
              <a:srgbClr val="B7791F"/>
            </a:solidFill>
            <a:prstDash val="solid"/>
          </a:ln>
        </p:spPr>
      </p:sp>
      <p:pic>
        <p:nvPicPr>
          <p:cNvPr id="5" name="Image 0" descr="preencoded.png">    </p:cNvPr>
          <p:cNvPicPr>
            <a:picLocks noChangeAspect="1"/>
          </p:cNvPicPr>
          <p:nvPr/>
        </p:nvPicPr>
        <p:blipFill>
          <a:blip r:embed="rId1"/>
          <a:stretch>
            <a:fillRect/>
          </a:stretch>
        </p:blipFill>
        <p:spPr>
          <a:xfrm>
            <a:off x="987552" y="1673352"/>
            <a:ext cx="356616" cy="356616"/>
          </a:xfrm>
          <a:prstGeom prst="rect">
            <a:avLst/>
          </a:prstGeom>
        </p:spPr>
      </p:pic>
      <p:sp>
        <p:nvSpPr>
          <p:cNvPr id="6" name="Text 3"/>
          <p:cNvSpPr txBox="1"/>
          <p:nvPr/>
        </p:nvSpPr>
        <p:spPr>
          <a:xfrm>
            <a:off x="1691640" y="1572768"/>
            <a:ext cx="3931920" cy="548640"/>
          </a:xfrm>
          <a:prstGeom prst="rect">
            <a:avLst/>
          </a:prstGeom>
          <a:noFill/>
          <a:ln/>
        </p:spPr>
        <p:txBody>
          <a:bodyPr wrap="square" lIns="0" tIns="0" rIns="0" bIns="0" rtlCol="0" anchor="ctr"/>
          <a:lstStyle/>
          <a:p>
            <a:pPr indent="0" marL="0">
              <a:buNone/>
            </a:pPr>
            <a:r>
              <a:rPr lang="en-US" sz="2000" b="1" dirty="0">
                <a:solidFill>
                  <a:srgbClr val="1B263B"/>
                </a:solidFill>
                <a:latin typeface="Calibri" pitchFamily="34" charset="0"/>
                <a:ea typeface="Calibri" pitchFamily="34" charset="-122"/>
                <a:cs typeface="Calibri" pitchFamily="34" charset="-120"/>
              </a:rPr>
              <a:t>Flow monitor</a:t>
            </a:r>
            <a:endParaRPr lang="en-US" sz="2000" dirty="0"/>
          </a:p>
        </p:txBody>
      </p:sp>
      <p:sp>
        <p:nvSpPr>
          <p:cNvPr id="7" name="Text 4"/>
          <p:cNvSpPr txBox="1"/>
          <p:nvPr/>
        </p:nvSpPr>
        <p:spPr>
          <a:xfrm>
            <a:off x="822960" y="2423160"/>
            <a:ext cx="4846320" cy="1828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B263B"/>
                </a:solidFill>
                <a:latin typeface="Calibri" pitchFamily="34" charset="0"/>
                <a:ea typeface="Calibri" pitchFamily="34" charset="-122"/>
                <a:cs typeface="Calibri" pitchFamily="34" charset="-120"/>
              </a:rPr>
              <a:t>Counts requests per source per second</a:t>
            </a:r>
            <a:endParaRPr lang="en-US" sz="1500" dirty="0"/>
          </a:p>
          <a:p>
            <a:pPr marL="342900" indent="-342900">
              <a:spcAft>
                <a:spcPts val="800"/>
              </a:spcAft>
              <a:buSzPct val="100000"/>
              <a:buChar char="•"/>
            </a:pPr>
            <a:r>
              <a:rPr lang="en-US" sz="1500" dirty="0">
                <a:solidFill>
                  <a:srgbClr val="1B263B"/>
                </a:solidFill>
                <a:latin typeface="Calibri" pitchFamily="34" charset="0"/>
                <a:ea typeface="Calibri" pitchFamily="34" charset="-122"/>
                <a:cs typeface="Calibri" pitchFamily="34" charset="-120"/>
              </a:rPr>
              <a:t>Learns a limit from normal traffic only: normal ≤ 3 req/s, threshold 5</a:t>
            </a:r>
            <a:endParaRPr lang="en-US" sz="1500" dirty="0"/>
          </a:p>
          <a:p>
            <a:pPr marL="342900" indent="-342900">
              <a:spcAft>
                <a:spcPts val="800"/>
              </a:spcAft>
              <a:buSzPct val="100000"/>
              <a:buChar char="•"/>
            </a:pPr>
            <a:r>
              <a:rPr lang="en-US" sz="1500" dirty="0">
                <a:solidFill>
                  <a:srgbClr val="1B263B"/>
                </a:solidFill>
                <a:latin typeface="Calibri" pitchFamily="34" charset="0"/>
                <a:ea typeface="Calibri" pitchFamily="34" charset="-122"/>
                <a:cs typeface="Calibri" pitchFamily="34" charset="-120"/>
              </a:rPr>
              <a:t>The flooding attacker sends 40 req/s</a:t>
            </a:r>
            <a:endParaRPr lang="en-US" sz="1500" dirty="0"/>
          </a:p>
        </p:txBody>
      </p:sp>
      <p:sp>
        <p:nvSpPr>
          <p:cNvPr id="8" name="Text 5"/>
          <p:cNvSpPr txBox="1"/>
          <p:nvPr/>
        </p:nvSpPr>
        <p:spPr>
          <a:xfrm>
            <a:off x="822960" y="4480560"/>
            <a:ext cx="4754880" cy="1280160"/>
          </a:xfrm>
          <a:prstGeom prst="rect">
            <a:avLst/>
          </a:prstGeom>
          <a:noFill/>
          <a:ln/>
        </p:spPr>
        <p:txBody>
          <a:bodyPr wrap="square" lIns="0" tIns="0" rIns="0" bIns="0" rtlCol="0" anchor="t"/>
          <a:lstStyle/>
          <a:p>
            <a:pPr indent="0" marL="0">
              <a:buNone/>
            </a:pPr>
            <a:r>
              <a:rPr lang="en-US" sz="3400" b="1" dirty="0">
                <a:solidFill>
                  <a:srgbClr val="B7791F"/>
                </a:solidFill>
                <a:latin typeface="Calibri" pitchFamily="34" charset="0"/>
                <a:ea typeface="Calibri" pitchFamily="34" charset="-122"/>
                <a:cs typeface="Calibri" pitchFamily="34" charset="-120"/>
              </a:rPr>
              <a:t>45 / 45</a:t>
            </a:r>
            <a:endParaRPr lang="en-US" sz="3400" dirty="0"/>
          </a:p>
          <a:p>
            <a:pPr indent="0" marL="0">
              <a:buNone/>
            </a:pPr>
            <a:r>
              <a:rPr lang="en-US" sz="1300" dirty="0">
                <a:solidFill>
                  <a:srgbClr val="5C6B7A"/>
                </a:solidFill>
                <a:latin typeface="Calibri" pitchFamily="34" charset="0"/>
                <a:ea typeface="Calibri" pitchFamily="34" charset="-122"/>
                <a:cs typeface="Calibri" pitchFamily="34" charset="-120"/>
              </a:rPr>
              <a:t>flood seconds caught, 0 false alarms</a:t>
            </a:r>
            <a:endParaRPr lang="en-US" sz="3400" dirty="0"/>
          </a:p>
        </p:txBody>
      </p:sp>
      <p:sp>
        <p:nvSpPr>
          <p:cNvPr id="9" name="Shape 6"/>
          <p:cNvSpPr/>
          <p:nvPr/>
        </p:nvSpPr>
        <p:spPr>
          <a:xfrm>
            <a:off x="6291072" y="1280160"/>
            <a:ext cx="5349240" cy="4754880"/>
          </a:xfrm>
          <a:prstGeom prst="roundRect">
            <a:avLst>
              <a:gd name="adj" fmla="val 1538"/>
            </a:avLst>
          </a:prstGeom>
          <a:solidFill>
            <a:srgbClr val="F1F6F8"/>
          </a:solidFill>
          <a:ln w="12700">
            <a:solidFill>
              <a:srgbClr val="F1F6F8"/>
            </a:solidFill>
            <a:prstDash val="solid"/>
          </a:ln>
        </p:spPr>
      </p:sp>
      <p:sp>
        <p:nvSpPr>
          <p:cNvPr id="10" name="Shape 7"/>
          <p:cNvSpPr/>
          <p:nvPr/>
        </p:nvSpPr>
        <p:spPr>
          <a:xfrm>
            <a:off x="6565392" y="1508760"/>
            <a:ext cx="685800" cy="685800"/>
          </a:xfrm>
          <a:prstGeom prst="ellipse">
            <a:avLst/>
          </a:prstGeom>
          <a:solidFill>
            <a:srgbClr val="6B3FB0"/>
          </a:solidFill>
          <a:ln w="12700">
            <a:solidFill>
              <a:srgbClr val="6B3FB0"/>
            </a:solidFill>
            <a:prstDash val="solid"/>
          </a:ln>
        </p:spPr>
      </p:sp>
      <p:pic>
        <p:nvPicPr>
          <p:cNvPr id="11" name="Image 1" descr="preencoded.png">    </p:cNvPr>
          <p:cNvPicPr>
            <a:picLocks noChangeAspect="1"/>
          </p:cNvPicPr>
          <p:nvPr/>
        </p:nvPicPr>
        <p:blipFill>
          <a:blip r:embed="rId2"/>
          <a:stretch>
            <a:fillRect/>
          </a:stretch>
        </p:blipFill>
        <p:spPr>
          <a:xfrm>
            <a:off x="6729984" y="1673352"/>
            <a:ext cx="356616" cy="356616"/>
          </a:xfrm>
          <a:prstGeom prst="rect">
            <a:avLst/>
          </a:prstGeom>
        </p:spPr>
      </p:pic>
      <p:sp>
        <p:nvSpPr>
          <p:cNvPr id="12" name="Text 8"/>
          <p:cNvSpPr txBox="1"/>
          <p:nvPr/>
        </p:nvSpPr>
        <p:spPr>
          <a:xfrm>
            <a:off x="7434072" y="1572768"/>
            <a:ext cx="4023360" cy="548640"/>
          </a:xfrm>
          <a:prstGeom prst="rect">
            <a:avLst/>
          </a:prstGeom>
          <a:noFill/>
          <a:ln/>
        </p:spPr>
        <p:txBody>
          <a:bodyPr wrap="square" lIns="0" tIns="0" rIns="0" bIns="0" rtlCol="0" anchor="ctr"/>
          <a:lstStyle/>
          <a:p>
            <a:pPr indent="0" marL="0">
              <a:buNone/>
            </a:pPr>
            <a:r>
              <a:rPr lang="en-US" sz="2000" b="1" dirty="0">
                <a:solidFill>
                  <a:srgbClr val="1B263B"/>
                </a:solidFill>
                <a:latin typeface="Calibri" pitchFamily="34" charset="0"/>
                <a:ea typeface="Calibri" pitchFamily="34" charset="-122"/>
                <a:cs typeface="Calibri" pitchFamily="34" charset="-120"/>
              </a:rPr>
              <a:t>LSTM autoencoder</a:t>
            </a:r>
            <a:endParaRPr lang="en-US" sz="2000" dirty="0"/>
          </a:p>
        </p:txBody>
      </p:sp>
      <p:sp>
        <p:nvSpPr>
          <p:cNvPr id="13" name="Text 9"/>
          <p:cNvSpPr txBox="1"/>
          <p:nvPr/>
        </p:nvSpPr>
        <p:spPr>
          <a:xfrm>
            <a:off x="6565392" y="2423160"/>
            <a:ext cx="4846320" cy="1828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B263B"/>
                </a:solidFill>
                <a:latin typeface="Calibri" pitchFamily="34" charset="0"/>
                <a:ea typeface="Calibri" pitchFamily="34" charset="-122"/>
                <a:cs typeface="Calibri" pitchFamily="34" charset="-120"/>
              </a:rPr>
              <a:t>Reconstructs 10-second windows of all 22 signals</a:t>
            </a:r>
            <a:endParaRPr lang="en-US" sz="1500" dirty="0"/>
          </a:p>
          <a:p>
            <a:pPr marL="342900" indent="-342900">
              <a:spcAft>
                <a:spcPts val="800"/>
              </a:spcAft>
              <a:buSzPct val="100000"/>
              <a:buChar char="•"/>
            </a:pPr>
            <a:r>
              <a:rPr lang="en-US" sz="1500" dirty="0">
                <a:solidFill>
                  <a:srgbClr val="1B263B"/>
                </a:solidFill>
                <a:latin typeface="Calibri" pitchFamily="34" charset="0"/>
                <a:ea typeface="Calibri" pitchFamily="34" charset="-122"/>
                <a:cs typeface="Calibri" pitchFamily="34" charset="-120"/>
              </a:rPr>
              <a:t>Trained on normal operation only</a:t>
            </a:r>
            <a:endParaRPr lang="en-US" sz="1500" dirty="0"/>
          </a:p>
          <a:p>
            <a:pPr marL="342900" indent="-342900">
              <a:spcAft>
                <a:spcPts val="800"/>
              </a:spcAft>
              <a:buSzPct val="100000"/>
              <a:buChar char="•"/>
            </a:pPr>
            <a:r>
              <a:rPr lang="en-US" sz="1500" dirty="0">
                <a:solidFill>
                  <a:srgbClr val="1B263B"/>
                </a:solidFill>
                <a:latin typeface="Calibri" pitchFamily="34" charset="0"/>
                <a:ea typeface="Calibri" pitchFamily="34" charset="-122"/>
                <a:cs typeface="Calibri" pitchFamily="34" charset="-120"/>
              </a:rPr>
              <a:t>Scores a window by its worst-reconstructed signal</a:t>
            </a:r>
            <a:endParaRPr lang="en-US" sz="1500" dirty="0"/>
          </a:p>
        </p:txBody>
      </p:sp>
      <p:sp>
        <p:nvSpPr>
          <p:cNvPr id="14" name="Text 10"/>
          <p:cNvSpPr txBox="1"/>
          <p:nvPr/>
        </p:nvSpPr>
        <p:spPr>
          <a:xfrm>
            <a:off x="6565392" y="4480560"/>
            <a:ext cx="4846320" cy="1280160"/>
          </a:xfrm>
          <a:prstGeom prst="rect">
            <a:avLst/>
          </a:prstGeom>
          <a:noFill/>
          <a:ln/>
        </p:spPr>
        <p:txBody>
          <a:bodyPr wrap="square" lIns="0" tIns="0" rIns="0" bIns="0" rtlCol="0" anchor="t"/>
          <a:lstStyle/>
          <a:p>
            <a:pPr indent="0" marL="0">
              <a:buNone/>
            </a:pPr>
            <a:r>
              <a:rPr lang="en-US" sz="3400" b="1" dirty="0">
                <a:solidFill>
                  <a:srgbClr val="6B3FB0"/>
                </a:solidFill>
                <a:latin typeface="Calibri" pitchFamily="34" charset="0"/>
                <a:ea typeface="Calibri" pitchFamily="34" charset="-122"/>
                <a:cs typeface="Calibri" pitchFamily="34" charset="-120"/>
              </a:rPr>
              <a:t>29 → 54 / 54</a:t>
            </a:r>
            <a:endParaRPr lang="en-US" sz="3400" dirty="0"/>
          </a:p>
          <a:p>
            <a:pPr indent="0" marL="0">
              <a:buNone/>
            </a:pPr>
            <a:r>
              <a:rPr lang="en-US" sz="1300" dirty="0">
                <a:solidFill>
                  <a:srgbClr val="5C6B7A"/>
                </a:solidFill>
                <a:latin typeface="Calibri" pitchFamily="34" charset="0"/>
                <a:ea typeface="Calibri" pitchFamily="34" charset="-122"/>
                <a:cs typeface="Calibri" pitchFamily="34" charset="-120"/>
              </a:rPr>
              <a:t>stealth windows caught: average error vs worst signal</a:t>
            </a:r>
            <a:endParaRPr lang="en-US" sz="3400" dirty="0"/>
          </a:p>
        </p:txBody>
      </p:sp>
      <p:sp>
        <p:nvSpPr>
          <p:cNvPr id="15" name="Text 1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8A97A6"/>
                </a:solidFill>
                <a:latin typeface="Calibri" pitchFamily="34" charset="0"/>
                <a:ea typeface="Calibri" pitchFamily="34" charset="-122"/>
                <a:cs typeface="Calibri" pitchFamily="34" charset="-120"/>
              </a:rPr>
              <a:t>8 / 15</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3152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Tamper-evident ledger and operator dashboard</a:t>
            </a:r>
            <a:endParaRPr lang="en-US" sz="3200" dirty="0"/>
          </a:p>
        </p:txBody>
      </p:sp>
      <p:pic>
        <p:nvPicPr>
          <p:cNvPr id="3" name="Image 0" descr="C:\Users\sunanda\Desktop\fyp\report\figures\dashboard_attack.png">    </p:cNvPr>
          <p:cNvPicPr>
            <a:picLocks noChangeAspect="1"/>
          </p:cNvPicPr>
          <p:nvPr/>
        </p:nvPicPr>
        <p:blipFill>
          <a:blip r:embed="rId1"/>
          <a:stretch>
            <a:fillRect/>
          </a:stretch>
        </p:blipFill>
        <p:spPr>
          <a:xfrm>
            <a:off x="548640" y="1288732"/>
            <a:ext cx="5669280" cy="4783455"/>
          </a:xfrm>
          <a:prstGeom prst="rect">
            <a:avLst/>
          </a:prstGeom>
        </p:spPr>
      </p:pic>
      <p:pic>
        <p:nvPicPr>
          <p:cNvPr id="4" name="Image 1" descr="C:\Users\sunanda\Desktop\fyp\report\figures\ledger_tampered.png">    </p:cNvPr>
          <p:cNvPicPr>
            <a:picLocks noChangeAspect="1"/>
          </p:cNvPicPr>
          <p:nvPr/>
        </p:nvPicPr>
        <p:blipFill>
          <a:blip r:embed="rId2"/>
          <a:stretch>
            <a:fillRect/>
          </a:stretch>
        </p:blipFill>
        <p:spPr>
          <a:xfrm>
            <a:off x="6446520" y="1263872"/>
            <a:ext cx="5193792" cy="1907095"/>
          </a:xfrm>
          <a:prstGeom prst="rect">
            <a:avLst/>
          </a:prstGeom>
        </p:spPr>
      </p:pic>
      <p:sp>
        <p:nvSpPr>
          <p:cNvPr id="5" name="Text 1"/>
          <p:cNvSpPr txBox="1"/>
          <p:nvPr/>
        </p:nvSpPr>
        <p:spPr>
          <a:xfrm>
            <a:off x="6446520" y="3429000"/>
            <a:ext cx="5193792"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B263B"/>
                </a:solidFill>
                <a:latin typeface="Calibri" pitchFamily="34" charset="0"/>
                <a:ea typeface="Calibri" pitchFamily="34" charset="-122"/>
                <a:cs typeface="Calibri" pitchFamily="34" charset="-120"/>
              </a:rPr>
              <a:t>Each entry is chained to the previous one with SHA-256 and signed with Ed25519</a:t>
            </a:r>
            <a:endParaRPr lang="en-US" sz="1500" dirty="0"/>
          </a:p>
          <a:p>
            <a:pPr marL="342900" indent="-342900">
              <a:spcAft>
                <a:spcPts val="800"/>
              </a:spcAft>
              <a:buSzPct val="100000"/>
              <a:buChar char="•"/>
            </a:pPr>
            <a:r>
              <a:rPr lang="en-US" sz="1500" dirty="0">
                <a:solidFill>
                  <a:srgbClr val="1B263B"/>
                </a:solidFill>
                <a:latin typeface="Calibri" pitchFamily="34" charset="0"/>
                <a:ea typeface="Calibri" pitchFamily="34" charset="-122"/>
                <a:cs typeface="Calibri" pitchFamily="34" charset="-120"/>
              </a:rPr>
              <a:t>505 commands and alerts recorded; the chain verifies as intact</a:t>
            </a:r>
            <a:endParaRPr lang="en-US" sz="1500" dirty="0"/>
          </a:p>
          <a:p>
            <a:pPr marL="342900" indent="-342900">
              <a:spcAft>
                <a:spcPts val="800"/>
              </a:spcAft>
              <a:buSzPct val="100000"/>
              <a:buChar char="•"/>
            </a:pPr>
            <a:r>
              <a:rPr lang="en-US" sz="1500" dirty="0">
                <a:solidFill>
                  <a:srgbClr val="1B263B"/>
                </a:solidFill>
                <a:latin typeface="Calibri" pitchFamily="34" charset="0"/>
                <a:ea typeface="Calibri" pitchFamily="34" charset="-122"/>
                <a:cs typeface="Calibri" pitchFamily="34" charset="-120"/>
              </a:rPr>
              <a:t>Editing, deleting, reordering or forging an entry is detected and located</a:t>
            </a:r>
            <a:endParaRPr lang="en-US" sz="1500" dirty="0"/>
          </a:p>
          <a:p>
            <a:pPr marL="342900" indent="-342900">
              <a:spcAft>
                <a:spcPts val="800"/>
              </a:spcAft>
              <a:buSzPct val="100000"/>
              <a:buChar char="•"/>
            </a:pPr>
            <a:r>
              <a:rPr lang="en-US" sz="1500" dirty="0">
                <a:solidFill>
                  <a:srgbClr val="1B263B"/>
                </a:solidFill>
                <a:latin typeface="Calibri" pitchFamily="34" charset="0"/>
                <a:ea typeface="Calibri" pitchFamily="34" charset="-122"/>
                <a:cs typeface="Calibri" pitchFamily="34" charset="-120"/>
              </a:rPr>
              <a:t>Live demo: inject an attack, then tamper with the log</a:t>
            </a:r>
            <a:endParaRPr lang="en-US" sz="1500" dirty="0"/>
          </a:p>
        </p:txBody>
      </p:sp>
      <p:sp>
        <p:nvSpPr>
          <p:cNvPr id="6" name="Text 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8A97A6"/>
                </a:solidFill>
                <a:latin typeface="Calibri" pitchFamily="34" charset="0"/>
                <a:ea typeface="Calibri" pitchFamily="34" charset="-122"/>
                <a:cs typeface="Calibri" pitchFamily="34" charset="-120"/>
              </a:rPr>
              <a:t>9 / 15</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3152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Results: no single layer is enough</a:t>
            </a:r>
            <a:endParaRPr lang="en-US" sz="3200" dirty="0"/>
          </a:p>
        </p:txBody>
      </p:sp>
      <p:sp>
        <p:nvSpPr>
          <p:cNvPr id="3" name="Text 1"/>
          <p:cNvSpPr txBox="1"/>
          <p:nvPr/>
        </p:nvSpPr>
        <p:spPr>
          <a:xfrm>
            <a:off x="548640" y="1042416"/>
            <a:ext cx="11094415" cy="411480"/>
          </a:xfrm>
          <a:prstGeom prst="rect">
            <a:avLst/>
          </a:prstGeom>
          <a:noFill/>
          <a:ln/>
        </p:spPr>
        <p:txBody>
          <a:bodyPr wrap="square" lIns="0" tIns="0" rIns="0" bIns="0" rtlCol="0" anchor="ctr"/>
          <a:lstStyle/>
          <a:p>
            <a:pPr indent="0" marL="0">
              <a:buNone/>
            </a:pPr>
            <a:r>
              <a:rPr lang="en-US" sz="1600" dirty="0">
                <a:solidFill>
                  <a:srgbClr val="5C6B7A"/>
                </a:solidFill>
                <a:latin typeface="Calibri" pitchFamily="34" charset="0"/>
                <a:ea typeface="Calibri" pitchFamily="34" charset="-122"/>
                <a:cs typeface="Calibri" pitchFamily="34" charset="-120"/>
              </a:rPr>
              <a:t>Per-second recall and precision on the simulator dataset</a:t>
            </a:r>
            <a:endParaRPr lang="en-US" sz="1600" dirty="0"/>
          </a:p>
        </p:txBody>
      </p:sp>
      <p:graphicFrame>
        <p:nvGraphicFramePr>
          <p:cNvPr id="4" name="Chart 0" descr=""/>
          <p:cNvGraphicFramePr/>
          <p:nvPr/>
        </p:nvGraphicFramePr>
        <p:xfrm>
          <a:off x="548640" y="1600200"/>
          <a:ext cx="6949440" cy="45262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863840" y="1645920"/>
            <a:ext cx="3776472" cy="1234440"/>
          </a:xfrm>
          <a:prstGeom prst="roundRect">
            <a:avLst>
              <a:gd name="adj" fmla="val 5926"/>
            </a:avLst>
          </a:prstGeom>
          <a:solidFill>
            <a:srgbClr val="D8ECEF"/>
          </a:solidFill>
          <a:ln w="12700">
            <a:solidFill>
              <a:srgbClr val="D8ECEF"/>
            </a:solidFill>
            <a:prstDash val="solid"/>
          </a:ln>
        </p:spPr>
      </p:sp>
      <p:sp>
        <p:nvSpPr>
          <p:cNvPr id="6" name="Text 3"/>
          <p:cNvSpPr txBox="1"/>
          <p:nvPr/>
        </p:nvSpPr>
        <p:spPr>
          <a:xfrm>
            <a:off x="8092440" y="1737360"/>
            <a:ext cx="3383280" cy="1097280"/>
          </a:xfrm>
          <a:prstGeom prst="rect">
            <a:avLst/>
          </a:prstGeom>
          <a:noFill/>
          <a:ln/>
        </p:spPr>
        <p:txBody>
          <a:bodyPr wrap="square" lIns="0" tIns="0" rIns="0" bIns="0" rtlCol="0" anchor="ctr"/>
          <a:lstStyle/>
          <a:p>
            <a:pPr indent="0" marL="0">
              <a:buNone/>
            </a:pPr>
            <a:r>
              <a:rPr lang="en-US" sz="3600" b="1" dirty="0">
                <a:solidFill>
                  <a:srgbClr val="13678A"/>
                </a:solidFill>
                <a:latin typeface="Calibri" pitchFamily="34" charset="0"/>
                <a:ea typeface="Calibri" pitchFamily="34" charset="-122"/>
                <a:cs typeface="Calibri" pitchFamily="34" charset="-120"/>
              </a:rPr>
              <a:t>1.00</a:t>
            </a:r>
            <a:endParaRPr lang="en-US" sz="3600" dirty="0"/>
          </a:p>
          <a:p>
            <a:pPr indent="0" marL="0">
              <a:buNone/>
            </a:pPr>
            <a:r>
              <a:rPr lang="en-US" sz="1300" dirty="0">
                <a:solidFill>
                  <a:srgbClr val="1B263B"/>
                </a:solidFill>
                <a:latin typeface="Calibri" pitchFamily="34" charset="0"/>
                <a:ea typeface="Calibri" pitchFamily="34" charset="-122"/>
                <a:cs typeface="Calibri" pitchFamily="34" charset="-120"/>
              </a:rPr>
              <a:t>recall: every attack second flagged</a:t>
            </a:r>
            <a:endParaRPr lang="en-US" sz="3600" dirty="0"/>
          </a:p>
        </p:txBody>
      </p:sp>
      <p:sp>
        <p:nvSpPr>
          <p:cNvPr id="7" name="Shape 4"/>
          <p:cNvSpPr/>
          <p:nvPr/>
        </p:nvSpPr>
        <p:spPr>
          <a:xfrm>
            <a:off x="7863840" y="3063240"/>
            <a:ext cx="3776472" cy="1234440"/>
          </a:xfrm>
          <a:prstGeom prst="roundRect">
            <a:avLst>
              <a:gd name="adj" fmla="val 5926"/>
            </a:avLst>
          </a:prstGeom>
          <a:solidFill>
            <a:srgbClr val="D8ECEF"/>
          </a:solidFill>
          <a:ln w="12700">
            <a:solidFill>
              <a:srgbClr val="D8ECEF"/>
            </a:solidFill>
            <a:prstDash val="solid"/>
          </a:ln>
        </p:spPr>
      </p:sp>
      <p:sp>
        <p:nvSpPr>
          <p:cNvPr id="8" name="Text 5"/>
          <p:cNvSpPr txBox="1"/>
          <p:nvPr/>
        </p:nvSpPr>
        <p:spPr>
          <a:xfrm>
            <a:off x="8092440" y="3154680"/>
            <a:ext cx="3383280" cy="1097280"/>
          </a:xfrm>
          <a:prstGeom prst="rect">
            <a:avLst/>
          </a:prstGeom>
          <a:noFill/>
          <a:ln/>
        </p:spPr>
        <p:txBody>
          <a:bodyPr wrap="square" lIns="0" tIns="0" rIns="0" bIns="0" rtlCol="0" anchor="ctr"/>
          <a:lstStyle/>
          <a:p>
            <a:pPr indent="0" marL="0">
              <a:buNone/>
            </a:pPr>
            <a:r>
              <a:rPr lang="en-US" sz="3600" b="1" dirty="0">
                <a:solidFill>
                  <a:srgbClr val="13678A"/>
                </a:solidFill>
                <a:latin typeface="Calibri" pitchFamily="34" charset="0"/>
                <a:ea typeface="Calibri" pitchFamily="34" charset="-122"/>
                <a:cs typeface="Calibri" pitchFamily="34" charset="-120"/>
              </a:rPr>
              <a:t>0.89</a:t>
            </a:r>
            <a:endParaRPr lang="en-US" sz="3600" dirty="0"/>
          </a:p>
          <a:p>
            <a:pPr indent="0" marL="0">
              <a:buNone/>
            </a:pPr>
            <a:r>
              <a:rPr lang="en-US" sz="1300" dirty="0">
                <a:solidFill>
                  <a:srgbClr val="1B263B"/>
                </a:solidFill>
                <a:latin typeface="Calibri" pitchFamily="34" charset="0"/>
                <a:ea typeface="Calibri" pitchFamily="34" charset="-122"/>
                <a:cs typeface="Calibri" pitchFamily="34" charset="-120"/>
              </a:rPr>
              <a:t>precision</a:t>
            </a:r>
            <a:endParaRPr lang="en-US" sz="3600" dirty="0"/>
          </a:p>
        </p:txBody>
      </p:sp>
      <p:sp>
        <p:nvSpPr>
          <p:cNvPr id="9" name="Shape 6"/>
          <p:cNvSpPr/>
          <p:nvPr/>
        </p:nvSpPr>
        <p:spPr>
          <a:xfrm>
            <a:off x="7863840" y="4480560"/>
            <a:ext cx="3776472" cy="1234440"/>
          </a:xfrm>
          <a:prstGeom prst="roundRect">
            <a:avLst>
              <a:gd name="adj" fmla="val 5926"/>
            </a:avLst>
          </a:prstGeom>
          <a:solidFill>
            <a:srgbClr val="D8ECEF"/>
          </a:solidFill>
          <a:ln w="12700">
            <a:solidFill>
              <a:srgbClr val="D8ECEF"/>
            </a:solidFill>
            <a:prstDash val="solid"/>
          </a:ln>
        </p:spPr>
      </p:sp>
      <p:sp>
        <p:nvSpPr>
          <p:cNvPr id="10" name="Text 7"/>
          <p:cNvSpPr txBox="1"/>
          <p:nvPr/>
        </p:nvSpPr>
        <p:spPr>
          <a:xfrm>
            <a:off x="8092440" y="4572000"/>
            <a:ext cx="3383280" cy="1097280"/>
          </a:xfrm>
          <a:prstGeom prst="rect">
            <a:avLst/>
          </a:prstGeom>
          <a:noFill/>
          <a:ln/>
        </p:spPr>
        <p:txBody>
          <a:bodyPr wrap="square" lIns="0" tIns="0" rIns="0" bIns="0" rtlCol="0" anchor="ctr"/>
          <a:lstStyle/>
          <a:p>
            <a:pPr indent="0" marL="0">
              <a:buNone/>
            </a:pPr>
            <a:r>
              <a:rPr lang="en-US" sz="3600" b="1" dirty="0">
                <a:solidFill>
                  <a:srgbClr val="13678A"/>
                </a:solidFill>
                <a:latin typeface="Calibri" pitchFamily="34" charset="0"/>
                <a:ea typeface="Calibri" pitchFamily="34" charset="-122"/>
                <a:cs typeface="Calibri" pitchFamily="34" charset="-120"/>
              </a:rPr>
              <a:t>0 s</a:t>
            </a:r>
            <a:endParaRPr lang="en-US" sz="3600" dirty="0"/>
          </a:p>
          <a:p>
            <a:pPr indent="0" marL="0">
              <a:buNone/>
            </a:pPr>
            <a:r>
              <a:rPr lang="en-US" sz="1300" dirty="0">
                <a:solidFill>
                  <a:srgbClr val="1B263B"/>
                </a:solidFill>
                <a:latin typeface="Calibri" pitchFamily="34" charset="0"/>
                <a:ea typeface="Calibri" pitchFamily="34" charset="-122"/>
                <a:cs typeface="Calibri" pitchFamily="34" charset="-120"/>
              </a:rPr>
              <a:t>to the first alert, for every attack</a:t>
            </a:r>
            <a:endParaRPr lang="en-US" sz="3600" dirty="0"/>
          </a:p>
        </p:txBody>
      </p:sp>
      <p:sp>
        <p:nvSpPr>
          <p:cNvPr id="11" name="Text 8"/>
          <p:cNvSpPr txBox="1"/>
          <p:nvPr/>
        </p:nvSpPr>
        <p:spPr>
          <a:xfrm>
            <a:off x="7863840" y="5943600"/>
            <a:ext cx="3776472" cy="640080"/>
          </a:xfrm>
          <a:prstGeom prst="rect">
            <a:avLst/>
          </a:prstGeom>
          <a:noFill/>
          <a:ln/>
        </p:spPr>
        <p:txBody>
          <a:bodyPr wrap="square" lIns="0" tIns="0" rIns="0" bIns="0" rtlCol="0" anchor="t"/>
          <a:lstStyle/>
          <a:p>
            <a:pPr indent="0" marL="0">
              <a:buNone/>
            </a:pPr>
            <a:r>
              <a:rPr lang="en-US" sz="1100" i="1" dirty="0">
                <a:solidFill>
                  <a:srgbClr val="5C6B7A"/>
                </a:solidFill>
                <a:latin typeface="Calibri" pitchFamily="34" charset="0"/>
                <a:ea typeface="Calibri" pitchFamily="34" charset="-122"/>
                <a:cs typeface="Calibri" pitchFamily="34" charset="-120"/>
              </a:rPr>
              <a:t>All 27 false-positive seconds are LSTM alerts in the 9 s after an attack ends, while its window still overlaps the attack.</a:t>
            </a:r>
            <a:endParaRPr lang="en-US" sz="1100" dirty="0"/>
          </a:p>
        </p:txBody>
      </p:sp>
      <p:sp>
        <p:nvSpPr>
          <p:cNvPr id="12" name="Text 9"/>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8A97A6"/>
                </a:solidFill>
                <a:latin typeface="Calibri" pitchFamily="34" charset="0"/>
                <a:ea typeface="Calibri" pitchFamily="34" charset="-122"/>
                <a:cs typeface="Calibri" pitchFamily="34" charset="-120"/>
              </a:rPr>
              <a:t>10 / 15</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3152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Every attack is covered by at least one layer</a:t>
            </a:r>
            <a:endParaRPr lang="en-US" sz="3200" dirty="0"/>
          </a:p>
        </p:txBody>
      </p:sp>
      <p:sp>
        <p:nvSpPr>
          <p:cNvPr id="3" name="Text 1"/>
          <p:cNvSpPr txBox="1"/>
          <p:nvPr/>
        </p:nvSpPr>
        <p:spPr>
          <a:xfrm>
            <a:off x="548640" y="1042416"/>
            <a:ext cx="11094415" cy="411480"/>
          </a:xfrm>
          <a:prstGeom prst="rect">
            <a:avLst/>
          </a:prstGeom>
          <a:noFill/>
          <a:ln/>
        </p:spPr>
        <p:txBody>
          <a:bodyPr wrap="square" lIns="0" tIns="0" rIns="0" bIns="0" rtlCol="0" anchor="ctr"/>
          <a:lstStyle/>
          <a:p>
            <a:pPr indent="0" marL="0">
              <a:buNone/>
            </a:pPr>
            <a:r>
              <a:rPr lang="en-US" sz="1600" dirty="0">
                <a:solidFill>
                  <a:srgbClr val="5C6B7A"/>
                </a:solidFill>
                <a:latin typeface="Calibri" pitchFamily="34" charset="0"/>
                <a:ea typeface="Calibri" pitchFamily="34" charset="-122"/>
                <a:cs typeface="Calibri" pitchFamily="34" charset="-120"/>
              </a:rPr>
              <a:t>Per-second recall by attack class</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039112"/>
                <a:gridCol w="1828800"/>
                <a:gridCol w="1828800"/>
                <a:gridCol w="1828800"/>
                <a:gridCol w="1828800"/>
                <a:gridCol w="1737360"/>
              </a:tblGrid>
              <a:tr h="713232">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Layer</a:t>
                      </a:r>
                      <a:endParaRPr lang="en-US" sz="14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B2545"/>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False data injection</a:t>
                      </a:r>
                      <a:endParaRPr lang="en-US" sz="14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B2545"/>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Command injection</a:t>
                      </a:r>
                      <a:endParaRPr lang="en-US" sz="14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B2545"/>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Flooding</a:t>
                      </a:r>
                      <a:endParaRPr lang="en-US" sz="14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B2545"/>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Replay</a:t>
                      </a:r>
                      <a:endParaRPr lang="en-US" sz="14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B2545"/>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Stealth</a:t>
                      </a:r>
                      <a:endParaRPr lang="en-US" sz="14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B2545"/>
                    </a:solidFill>
                  </a:tcPr>
                </a:tc>
              </a:tr>
              <a:tr h="713232">
                <a:tc>
                  <a:txBody>
                    <a:bodyPr/>
                    <a:lstStyle/>
                    <a:p>
                      <a:pPr indent="0" marL="0">
                        <a:buNone/>
                      </a:pPr>
                      <a:r>
                        <a:rPr lang="en-US" sz="1500" b="1" dirty="0">
                          <a:solidFill>
                            <a:srgbClr val="1B263B"/>
                          </a:solidFill>
                          <a:latin typeface="Calibri" pitchFamily="34" charset="0"/>
                          <a:ea typeface="Calibri" pitchFamily="34" charset="-122"/>
                          <a:cs typeface="Calibri" pitchFamily="34" charset="-120"/>
                        </a:rPr>
                        <a:t>DPI</a:t>
                      </a:r>
                      <a:endParaRPr lang="en-US" sz="15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100%</a:t>
                      </a:r>
                      <a:endParaRPr lang="en-US" sz="18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3DB4A5"/>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100%</a:t>
                      </a:r>
                      <a:endParaRPr lang="en-US" sz="18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3DB4A5"/>
                    </a:solidFill>
                  </a:tcPr>
                </a:tc>
                <a:tc>
                  <a:txBody>
                    <a:bodyPr/>
                    <a:lstStyle/>
                    <a:p>
                      <a:pPr algn="ctr" indent="0" marL="0">
                        <a:buNone/>
                      </a:pPr>
                      <a:r>
                        <a:rPr lang="en-US" sz="1800" dirty="0">
                          <a:solidFill>
                            <a:srgbClr val="9AA5B1"/>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100%</a:t>
                      </a:r>
                      <a:endParaRPr lang="en-US" sz="18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3DB4A5"/>
                    </a:solidFill>
                  </a:tcPr>
                </a:tc>
                <a:tc>
                  <a:txBody>
                    <a:bodyPr/>
                    <a:lstStyle/>
                    <a:p>
                      <a:pPr algn="ctr" indent="0" marL="0">
                        <a:buNone/>
                      </a:pPr>
                      <a:r>
                        <a:rPr lang="en-US" sz="1800" dirty="0">
                          <a:solidFill>
                            <a:srgbClr val="9AA5B1"/>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6F8"/>
                    </a:solidFill>
                  </a:tcPr>
                </a:tc>
              </a:tr>
              <a:tr h="713232">
                <a:tc>
                  <a:txBody>
                    <a:bodyPr/>
                    <a:lstStyle/>
                    <a:p>
                      <a:pPr indent="0" marL="0">
                        <a:buNone/>
                      </a:pPr>
                      <a:r>
                        <a:rPr lang="en-US" sz="1500" b="1" dirty="0">
                          <a:solidFill>
                            <a:srgbClr val="1B263B"/>
                          </a:solidFill>
                          <a:latin typeface="Calibri" pitchFamily="34" charset="0"/>
                          <a:ea typeface="Calibri" pitchFamily="34" charset="-122"/>
                          <a:cs typeface="Calibri" pitchFamily="34" charset="-120"/>
                        </a:rPr>
                        <a:t>Flow monitor</a:t>
                      </a:r>
                      <a:endParaRPr lang="en-US" sz="15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800" dirty="0">
                          <a:solidFill>
                            <a:srgbClr val="9AA5B1"/>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800" dirty="0">
                          <a:solidFill>
                            <a:srgbClr val="9AA5B1"/>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100%</a:t>
                      </a:r>
                      <a:endParaRPr lang="en-US" sz="18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3DB4A5"/>
                    </a:solidFill>
                  </a:tcPr>
                </a:tc>
                <a:tc>
                  <a:txBody>
                    <a:bodyPr/>
                    <a:lstStyle/>
                    <a:p>
                      <a:pPr algn="ctr" indent="0" marL="0">
                        <a:buNone/>
                      </a:pPr>
                      <a:r>
                        <a:rPr lang="en-US" sz="1800" dirty="0">
                          <a:solidFill>
                            <a:srgbClr val="9AA5B1"/>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800" dirty="0">
                          <a:solidFill>
                            <a:srgbClr val="9AA5B1"/>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6F8"/>
                    </a:solidFill>
                  </a:tcPr>
                </a:tc>
              </a:tr>
              <a:tr h="713232">
                <a:tc>
                  <a:txBody>
                    <a:bodyPr/>
                    <a:lstStyle/>
                    <a:p>
                      <a:pPr indent="0" marL="0">
                        <a:buNone/>
                      </a:pPr>
                      <a:r>
                        <a:rPr lang="en-US" sz="1500" b="1" dirty="0">
                          <a:solidFill>
                            <a:srgbClr val="1B263B"/>
                          </a:solidFill>
                          <a:latin typeface="Calibri" pitchFamily="34" charset="0"/>
                          <a:ea typeface="Calibri" pitchFamily="34" charset="-122"/>
                          <a:cs typeface="Calibri" pitchFamily="34" charset="-120"/>
                        </a:rPr>
                        <a:t>LSTM</a:t>
                      </a:r>
                      <a:endParaRPr lang="en-US" sz="15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100%</a:t>
                      </a:r>
                      <a:endParaRPr lang="en-US" sz="18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3DB4A5"/>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100%</a:t>
                      </a:r>
                      <a:endParaRPr lang="en-US" sz="18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3DB4A5"/>
                    </a:solidFill>
                  </a:tcPr>
                </a:tc>
                <a:tc>
                  <a:txBody>
                    <a:bodyPr/>
                    <a:lstStyle/>
                    <a:p>
                      <a:pPr algn="ctr" indent="0" marL="0">
                        <a:buNone/>
                      </a:pPr>
                      <a:r>
                        <a:rPr lang="en-US" sz="1800" dirty="0">
                          <a:solidFill>
                            <a:srgbClr val="9AA5B1"/>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800" dirty="0">
                          <a:solidFill>
                            <a:srgbClr val="9AA5B1"/>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100%</a:t>
                      </a:r>
                      <a:endParaRPr lang="en-US" sz="18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3DB4A5"/>
                    </a:solidFill>
                  </a:tcPr>
                </a:tc>
              </a:tr>
              <a:tr h="713232">
                <a:tc>
                  <a:txBody>
                    <a:bodyPr/>
                    <a:lstStyle/>
                    <a:p>
                      <a:pPr indent="0" marL="0">
                        <a:buNone/>
                      </a:pPr>
                      <a:r>
                        <a:rPr lang="en-US" sz="1500" b="1" dirty="0">
                          <a:solidFill>
                            <a:srgbClr val="1B263B"/>
                          </a:solidFill>
                          <a:latin typeface="Calibri" pitchFamily="34" charset="0"/>
                          <a:ea typeface="Calibri" pitchFamily="34" charset="-122"/>
                          <a:cs typeface="Calibri" pitchFamily="34" charset="-120"/>
                        </a:rPr>
                        <a:t>Combined</a:t>
                      </a:r>
                      <a:endParaRPr lang="en-US" sz="15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8ECEF"/>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100%</a:t>
                      </a:r>
                      <a:endParaRPr lang="en-US" sz="18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3678A"/>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100%</a:t>
                      </a:r>
                      <a:endParaRPr lang="en-US" sz="18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3678A"/>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100%</a:t>
                      </a:r>
                      <a:endParaRPr lang="en-US" sz="18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3678A"/>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100%</a:t>
                      </a:r>
                      <a:endParaRPr lang="en-US" sz="18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3678A"/>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100%</a:t>
                      </a:r>
                      <a:endParaRPr lang="en-US" sz="18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3678A"/>
                    </a:solidFill>
                  </a:tcPr>
                </a:tc>
              </a:tr>
            </a:tbl>
          </a:graphicData>
        </a:graphic>
      </p:graphicFrame>
      <p:sp>
        <p:nvSpPr>
          <p:cNvPr id="5" name="Text 2"/>
          <p:cNvSpPr txBox="1"/>
          <p:nvPr/>
        </p:nvSpPr>
        <p:spPr>
          <a:xfrm>
            <a:off x="548640" y="5440680"/>
            <a:ext cx="11094415" cy="822960"/>
          </a:xfrm>
          <a:prstGeom prst="rect">
            <a:avLst/>
          </a:prstGeom>
          <a:noFill/>
          <a:ln/>
        </p:spPr>
        <p:txBody>
          <a:bodyPr wrap="square" lIns="0" tIns="0" rIns="0" bIns="0" rtlCol="0" anchor="t"/>
          <a:lstStyle/>
          <a:p>
            <a:pPr indent="0" marL="0">
              <a:buNone/>
            </a:pPr>
            <a:r>
              <a:rPr lang="en-US" sz="1500" dirty="0">
                <a:solidFill>
                  <a:srgbClr val="1B263B"/>
                </a:solidFill>
                <a:latin typeface="Calibri" pitchFamily="34" charset="0"/>
                <a:ea typeface="Calibri" pitchFamily="34" charset="-122"/>
                <a:cs typeface="Calibri" pitchFamily="34" charset="-120"/>
              </a:rPr>
              <a:t>Floods change nothing in the process, so only the flow monitor sees them. The stealth command is valid at the protocol level, so only the LSTM sees it. Replay re-sends the controller's most recent command, so only DPI sees it.</a:t>
            </a:r>
            <a:endParaRPr lang="en-US" sz="1500" dirty="0"/>
          </a:p>
        </p:txBody>
      </p:sp>
      <p:sp>
        <p:nvSpPr>
          <p:cNvPr id="6" name="Text 3"/>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8A97A6"/>
                </a:solidFill>
                <a:latin typeface="Calibri" pitchFamily="34" charset="0"/>
                <a:ea typeface="Calibri" pitchFamily="34" charset="-122"/>
                <a:cs typeface="Calibri" pitchFamily="34" charset="-120"/>
              </a:rPr>
              <a:t>11 / 15</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3152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Reality check: the public HAI dataset</a:t>
            </a:r>
            <a:endParaRPr lang="en-US" sz="3200" dirty="0"/>
          </a:p>
        </p:txBody>
      </p:sp>
      <p:sp>
        <p:nvSpPr>
          <p:cNvPr id="3" name="Text 1"/>
          <p:cNvSpPr txBox="1"/>
          <p:nvPr/>
        </p:nvSpPr>
        <p:spPr>
          <a:xfrm>
            <a:off x="548640" y="1042416"/>
            <a:ext cx="11094415" cy="411480"/>
          </a:xfrm>
          <a:prstGeom prst="rect">
            <a:avLst/>
          </a:prstGeom>
          <a:noFill/>
          <a:ln/>
        </p:spPr>
        <p:txBody>
          <a:bodyPr wrap="square" lIns="0" tIns="0" rIns="0" bIns="0" rtlCol="0" anchor="ctr"/>
          <a:lstStyle/>
          <a:p>
            <a:pPr indent="0" marL="0">
              <a:buNone/>
            </a:pPr>
            <a:r>
              <a:rPr lang="en-US" sz="1600" dirty="0">
                <a:solidFill>
                  <a:srgbClr val="5C6B7A"/>
                </a:solidFill>
                <a:latin typeface="Calibri" pitchFamily="34" charset="0"/>
                <a:ea typeface="Calibri" pitchFamily="34" charset="-122"/>
                <a:cs typeface="Calibri" pitchFamily="34" charset="-120"/>
              </a:rPr>
              <a:t>Same LSTM on a real hardware-in-the-loop testbed: 7 attacks in 24 h (~1% of the time)</a:t>
            </a:r>
            <a:endParaRPr lang="en-US" sz="1600" dirty="0"/>
          </a:p>
        </p:txBody>
      </p:sp>
      <p:sp>
        <p:nvSpPr>
          <p:cNvPr id="4" name="Shape 2"/>
          <p:cNvSpPr/>
          <p:nvPr/>
        </p:nvSpPr>
        <p:spPr>
          <a:xfrm>
            <a:off x="548640" y="1691640"/>
            <a:ext cx="4846320" cy="2057400"/>
          </a:xfrm>
          <a:prstGeom prst="roundRect">
            <a:avLst>
              <a:gd name="adj" fmla="val 3556"/>
            </a:avLst>
          </a:prstGeom>
          <a:solidFill>
            <a:srgbClr val="F1F6F8"/>
          </a:solidFill>
          <a:ln w="12700">
            <a:solidFill>
              <a:srgbClr val="F1F6F8"/>
            </a:solidFill>
            <a:prstDash val="solid"/>
          </a:ln>
        </p:spPr>
      </p:sp>
      <p:sp>
        <p:nvSpPr>
          <p:cNvPr id="5" name="Text 3"/>
          <p:cNvSpPr txBox="1"/>
          <p:nvPr/>
        </p:nvSpPr>
        <p:spPr>
          <a:xfrm>
            <a:off x="777240" y="1828800"/>
            <a:ext cx="4480560" cy="685800"/>
          </a:xfrm>
          <a:prstGeom prst="rect">
            <a:avLst/>
          </a:prstGeom>
          <a:noFill/>
          <a:ln/>
        </p:spPr>
        <p:txBody>
          <a:bodyPr wrap="square" lIns="0" tIns="0" rIns="0" bIns="0" rtlCol="0" anchor="t"/>
          <a:lstStyle/>
          <a:p>
            <a:pPr indent="0" marL="0">
              <a:buNone/>
            </a:pPr>
            <a:r>
              <a:rPr lang="en-US" sz="1700" b="1" dirty="0">
                <a:solidFill>
                  <a:srgbClr val="1B263B"/>
                </a:solidFill>
                <a:latin typeface="Calibri" pitchFamily="34" charset="0"/>
                <a:ea typeface="Calibri" pitchFamily="34" charset="-122"/>
                <a:cs typeface="Calibri" pitchFamily="34" charset="-120"/>
              </a:rPr>
              <a:t>Round 1</a:t>
            </a:r>
            <a:endParaRPr lang="en-US" sz="1700" dirty="0"/>
          </a:p>
          <a:p>
            <a:pPr indent="0" marL="0">
              <a:buNone/>
            </a:pPr>
            <a:r>
              <a:rPr lang="en-US" sz="1200" dirty="0">
                <a:solidFill>
                  <a:srgbClr val="5C6B7A"/>
                </a:solidFill>
                <a:latin typeface="Calibri" pitchFamily="34" charset="0"/>
                <a:ea typeface="Calibri" pitchFamily="34" charset="-122"/>
                <a:cs typeface="Calibri" pitchFamily="34" charset="-120"/>
              </a:rPr>
              <a:t>Trained on 1 recording (26 h)</a:t>
            </a:r>
            <a:endParaRPr lang="en-US" sz="1700" dirty="0"/>
          </a:p>
        </p:txBody>
      </p:sp>
      <p:sp>
        <p:nvSpPr>
          <p:cNvPr id="6" name="Text 4"/>
          <p:cNvSpPr txBox="1"/>
          <p:nvPr/>
        </p:nvSpPr>
        <p:spPr>
          <a:xfrm>
            <a:off x="777240" y="2560320"/>
            <a:ext cx="2148840" cy="1097280"/>
          </a:xfrm>
          <a:prstGeom prst="rect">
            <a:avLst/>
          </a:prstGeom>
          <a:noFill/>
          <a:ln/>
        </p:spPr>
        <p:txBody>
          <a:bodyPr wrap="square" lIns="0" tIns="0" rIns="0" bIns="0" rtlCol="0" anchor="t"/>
          <a:lstStyle/>
          <a:p>
            <a:pPr indent="0" marL="0">
              <a:buNone/>
            </a:pPr>
            <a:r>
              <a:rPr lang="en-US" sz="2800" b="1" dirty="0">
                <a:solidFill>
                  <a:srgbClr val="13678A"/>
                </a:solidFill>
                <a:latin typeface="Calibri" pitchFamily="34" charset="0"/>
                <a:ea typeface="Calibri" pitchFamily="34" charset="-122"/>
                <a:cs typeface="Calibri" pitchFamily="34" charset="-120"/>
              </a:rPr>
              <a:t>0.74</a:t>
            </a:r>
            <a:endParaRPr lang="en-US" sz="2800" dirty="0"/>
          </a:p>
          <a:p>
            <a:pPr indent="0" marL="0">
              <a:buNone/>
            </a:pPr>
            <a:r>
              <a:rPr lang="en-US" sz="1100" dirty="0">
                <a:solidFill>
                  <a:srgbClr val="1B263B"/>
                </a:solidFill>
                <a:latin typeface="Calibri" pitchFamily="34" charset="0"/>
                <a:ea typeface="Calibri" pitchFamily="34" charset="-122"/>
                <a:cs typeface="Calibri" pitchFamily="34" charset="-120"/>
              </a:rPr>
              <a:t>ROC-AUC: ranks attacks above normal</a:t>
            </a:r>
            <a:endParaRPr lang="en-US" sz="2800" dirty="0"/>
          </a:p>
        </p:txBody>
      </p:sp>
      <p:sp>
        <p:nvSpPr>
          <p:cNvPr id="7" name="Text 5"/>
          <p:cNvSpPr txBox="1"/>
          <p:nvPr/>
        </p:nvSpPr>
        <p:spPr>
          <a:xfrm>
            <a:off x="3063240" y="2560320"/>
            <a:ext cx="2148840" cy="1097280"/>
          </a:xfrm>
          <a:prstGeom prst="rect">
            <a:avLst/>
          </a:prstGeom>
          <a:noFill/>
          <a:ln/>
        </p:spPr>
        <p:txBody>
          <a:bodyPr wrap="square" lIns="0" tIns="0" rIns="0" bIns="0" rtlCol="0" anchor="t"/>
          <a:lstStyle/>
          <a:p>
            <a:pPr indent="0" marL="0">
              <a:buNone/>
            </a:pPr>
            <a:r>
              <a:rPr lang="en-US" sz="2800" b="1" dirty="0">
                <a:solidFill>
                  <a:srgbClr val="D64545"/>
                </a:solidFill>
                <a:latin typeface="Calibri" pitchFamily="34" charset="0"/>
                <a:ea typeface="Calibri" pitchFamily="34" charset="-122"/>
                <a:cs typeface="Calibri" pitchFamily="34" charset="-120"/>
              </a:rPr>
              <a:t>91%</a:t>
            </a:r>
            <a:endParaRPr lang="en-US" sz="2800" dirty="0"/>
          </a:p>
          <a:p>
            <a:pPr indent="0" marL="0">
              <a:buNone/>
            </a:pPr>
            <a:r>
              <a:rPr lang="en-US" sz="1100" dirty="0">
                <a:solidFill>
                  <a:srgbClr val="1B263B"/>
                </a:solidFill>
                <a:latin typeface="Calibri" pitchFamily="34" charset="0"/>
                <a:ea typeface="Calibri" pitchFamily="34" charset="-122"/>
                <a:cs typeface="Calibri" pitchFamily="34" charset="-120"/>
              </a:rPr>
              <a:t>of the test day flagged: unusable</a:t>
            </a:r>
            <a:endParaRPr lang="en-US" sz="2800" dirty="0"/>
          </a:p>
        </p:txBody>
      </p:sp>
      <p:sp>
        <p:nvSpPr>
          <p:cNvPr id="8" name="Shape 6"/>
          <p:cNvSpPr/>
          <p:nvPr/>
        </p:nvSpPr>
        <p:spPr>
          <a:xfrm>
            <a:off x="548640" y="3977640"/>
            <a:ext cx="4846320" cy="2057400"/>
          </a:xfrm>
          <a:prstGeom prst="roundRect">
            <a:avLst>
              <a:gd name="adj" fmla="val 3556"/>
            </a:avLst>
          </a:prstGeom>
          <a:solidFill>
            <a:srgbClr val="FBE3E1"/>
          </a:solidFill>
          <a:ln w="12700">
            <a:solidFill>
              <a:srgbClr val="FBE3E1"/>
            </a:solidFill>
            <a:prstDash val="solid"/>
          </a:ln>
        </p:spPr>
      </p:sp>
      <p:sp>
        <p:nvSpPr>
          <p:cNvPr id="9" name="Text 7"/>
          <p:cNvSpPr txBox="1"/>
          <p:nvPr/>
        </p:nvSpPr>
        <p:spPr>
          <a:xfrm>
            <a:off x="777240" y="4114800"/>
            <a:ext cx="4480560" cy="685800"/>
          </a:xfrm>
          <a:prstGeom prst="rect">
            <a:avLst/>
          </a:prstGeom>
          <a:noFill/>
          <a:ln/>
        </p:spPr>
        <p:txBody>
          <a:bodyPr wrap="square" lIns="0" tIns="0" rIns="0" bIns="0" rtlCol="0" anchor="t"/>
          <a:lstStyle/>
          <a:p>
            <a:pPr indent="0" marL="0">
              <a:buNone/>
            </a:pPr>
            <a:r>
              <a:rPr lang="en-US" sz="1700" b="1" dirty="0">
                <a:solidFill>
                  <a:srgbClr val="1B263B"/>
                </a:solidFill>
                <a:latin typeface="Calibri" pitchFamily="34" charset="0"/>
                <a:ea typeface="Calibri" pitchFamily="34" charset="-122"/>
                <a:cs typeface="Calibri" pitchFamily="34" charset="-120"/>
              </a:rPr>
              <a:t>Round 2</a:t>
            </a:r>
            <a:endParaRPr lang="en-US" sz="1700" dirty="0"/>
          </a:p>
          <a:p>
            <a:pPr indent="0" marL="0">
              <a:buNone/>
            </a:pPr>
            <a:r>
              <a:rPr lang="en-US" sz="1200" dirty="0">
                <a:solidFill>
                  <a:srgbClr val="5C6B7A"/>
                </a:solidFill>
                <a:latin typeface="Calibri" pitchFamily="34" charset="0"/>
                <a:ea typeface="Calibri" pitchFamily="34" charset="-122"/>
                <a:cs typeface="Calibri" pitchFamily="34" charset="-120"/>
              </a:rPr>
              <a:t>Trained on 3 recordings (117 h), threshold from a 4th</a:t>
            </a:r>
            <a:endParaRPr lang="en-US" sz="1700" dirty="0"/>
          </a:p>
        </p:txBody>
      </p:sp>
      <p:sp>
        <p:nvSpPr>
          <p:cNvPr id="10" name="Text 8"/>
          <p:cNvSpPr txBox="1"/>
          <p:nvPr/>
        </p:nvSpPr>
        <p:spPr>
          <a:xfrm>
            <a:off x="777240" y="4846320"/>
            <a:ext cx="2148840" cy="1097280"/>
          </a:xfrm>
          <a:prstGeom prst="rect">
            <a:avLst/>
          </a:prstGeom>
          <a:noFill/>
          <a:ln/>
        </p:spPr>
        <p:txBody>
          <a:bodyPr wrap="square" lIns="0" tIns="0" rIns="0" bIns="0" rtlCol="0" anchor="t"/>
          <a:lstStyle/>
          <a:p>
            <a:pPr indent="0" marL="0">
              <a:buNone/>
            </a:pPr>
            <a:r>
              <a:rPr lang="en-US" sz="2800" b="1" dirty="0">
                <a:solidFill>
                  <a:srgbClr val="13678A"/>
                </a:solidFill>
                <a:latin typeface="Calibri" pitchFamily="34" charset="0"/>
                <a:ea typeface="Calibri" pitchFamily="34" charset="-122"/>
                <a:cs typeface="Calibri" pitchFamily="34" charset="-120"/>
              </a:rPr>
              <a:t>0.1%</a:t>
            </a:r>
            <a:endParaRPr lang="en-US" sz="2800" dirty="0"/>
          </a:p>
          <a:p>
            <a:pPr indent="0" marL="0">
              <a:buNone/>
            </a:pPr>
            <a:r>
              <a:rPr lang="en-US" sz="1100" dirty="0">
                <a:solidFill>
                  <a:srgbClr val="1B263B"/>
                </a:solidFill>
                <a:latin typeface="Calibri" pitchFamily="34" charset="0"/>
                <a:ea typeface="Calibri" pitchFamily="34" charset="-122"/>
                <a:cs typeface="Calibri" pitchFamily="34" charset="-120"/>
              </a:rPr>
              <a:t>false-positive rate</a:t>
            </a:r>
            <a:endParaRPr lang="en-US" sz="2800" dirty="0"/>
          </a:p>
        </p:txBody>
      </p:sp>
      <p:sp>
        <p:nvSpPr>
          <p:cNvPr id="11" name="Text 9"/>
          <p:cNvSpPr txBox="1"/>
          <p:nvPr/>
        </p:nvSpPr>
        <p:spPr>
          <a:xfrm>
            <a:off x="3063240" y="4846320"/>
            <a:ext cx="2148840" cy="1097280"/>
          </a:xfrm>
          <a:prstGeom prst="rect">
            <a:avLst/>
          </a:prstGeom>
          <a:noFill/>
          <a:ln/>
        </p:spPr>
        <p:txBody>
          <a:bodyPr wrap="square" lIns="0" tIns="0" rIns="0" bIns="0" rtlCol="0" anchor="t"/>
          <a:lstStyle/>
          <a:p>
            <a:pPr indent="0" marL="0">
              <a:buNone/>
            </a:pPr>
            <a:r>
              <a:rPr lang="en-US" sz="2800" b="1" dirty="0">
                <a:solidFill>
                  <a:srgbClr val="13678A"/>
                </a:solidFill>
                <a:latin typeface="Calibri" pitchFamily="34" charset="0"/>
                <a:ea typeface="Calibri" pitchFamily="34" charset="-122"/>
                <a:cs typeface="Calibri" pitchFamily="34" charset="-120"/>
              </a:rPr>
              <a:t>2 / 7</a:t>
            </a:r>
            <a:endParaRPr lang="en-US" sz="2800" dirty="0"/>
          </a:p>
          <a:p>
            <a:pPr indent="0" marL="0">
              <a:buNone/>
            </a:pPr>
            <a:r>
              <a:rPr lang="en-US" sz="1100" dirty="0">
                <a:solidFill>
                  <a:srgbClr val="1B263B"/>
                </a:solidFill>
                <a:latin typeface="Calibri" pitchFamily="34" charset="0"/>
                <a:ea typeface="Calibri" pitchFamily="34" charset="-122"/>
                <a:cs typeface="Calibri" pitchFamily="34" charset="-120"/>
              </a:rPr>
              <a:t>attacks detected</a:t>
            </a:r>
            <a:endParaRPr lang="en-US" sz="2800" dirty="0"/>
          </a:p>
        </p:txBody>
      </p:sp>
      <p:pic>
        <p:nvPicPr>
          <p:cNvPr id="12" name="Image 0" descr="C:\Users\sunanda\Desktop\fyp\eval\results\hai_timeline_multiday.png">    </p:cNvPr>
          <p:cNvPicPr>
            <a:picLocks noChangeAspect="1"/>
          </p:cNvPicPr>
          <p:nvPr/>
        </p:nvPicPr>
        <p:blipFill>
          <a:blip r:embed="rId1"/>
          <a:stretch>
            <a:fillRect/>
          </a:stretch>
        </p:blipFill>
        <p:spPr>
          <a:xfrm>
            <a:off x="5669280" y="2260480"/>
            <a:ext cx="5971032" cy="2062720"/>
          </a:xfrm>
          <a:prstGeom prst="rect">
            <a:avLst/>
          </a:prstGeom>
        </p:spPr>
      </p:pic>
      <p:sp>
        <p:nvSpPr>
          <p:cNvPr id="13" name="Text 10"/>
          <p:cNvSpPr txBox="1"/>
          <p:nvPr/>
        </p:nvSpPr>
        <p:spPr>
          <a:xfrm>
            <a:off x="5669280" y="4983480"/>
            <a:ext cx="5971032" cy="914400"/>
          </a:xfrm>
          <a:prstGeom prst="rect">
            <a:avLst/>
          </a:prstGeom>
          <a:noFill/>
          <a:ln/>
        </p:spPr>
        <p:txBody>
          <a:bodyPr wrap="square" lIns="0" tIns="0" rIns="0" bIns="0" rtlCol="0" anchor="t"/>
          <a:lstStyle/>
          <a:p>
            <a:pPr indent="0" marL="0">
              <a:buNone/>
            </a:pPr>
            <a:r>
              <a:rPr lang="en-US" sz="1400" dirty="0">
                <a:solidFill>
                  <a:srgbClr val="1B263B"/>
                </a:solidFill>
                <a:latin typeface="Calibri" pitchFamily="34" charset="0"/>
                <a:ea typeface="Calibri" pitchFamily="34" charset="-122"/>
                <a:cs typeface="Calibri" pitchFamily="34" charset="-120"/>
              </a:rPr>
              <a:t>The score follows a change of operating mode at ~16.8 h, not the attacks (red bands). That mode appears in none of the training recordings.</a:t>
            </a:r>
            <a:endParaRPr lang="en-US" sz="1400" dirty="0"/>
          </a:p>
        </p:txBody>
      </p:sp>
      <p:sp>
        <p:nvSpPr>
          <p:cNvPr id="14" name="Text 1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8A97A6"/>
                </a:solidFill>
                <a:latin typeface="Calibri" pitchFamily="34" charset="0"/>
                <a:ea typeface="Calibri" pitchFamily="34" charset="-122"/>
                <a:cs typeface="Calibri" pitchFamily="34" charset="-120"/>
              </a:rPr>
              <a:t>12 / 15</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3152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What we learned</a:t>
            </a:r>
            <a:endParaRPr lang="en-US" sz="3200" dirty="0"/>
          </a:p>
        </p:txBody>
      </p:sp>
      <p:sp>
        <p:nvSpPr>
          <p:cNvPr id="3" name="Shape 1"/>
          <p:cNvSpPr/>
          <p:nvPr/>
        </p:nvSpPr>
        <p:spPr>
          <a:xfrm>
            <a:off x="548640" y="1371600"/>
            <a:ext cx="3520440" cy="4343400"/>
          </a:xfrm>
          <a:prstGeom prst="roundRect">
            <a:avLst>
              <a:gd name="adj" fmla="val 2078"/>
            </a:avLst>
          </a:prstGeom>
          <a:solidFill>
            <a:srgbClr val="F1F6F8"/>
          </a:solidFill>
          <a:ln w="12700">
            <a:solidFill>
              <a:srgbClr val="F1F6F8"/>
            </a:solidFill>
            <a:prstDash val="solid"/>
          </a:ln>
        </p:spPr>
      </p:sp>
      <p:sp>
        <p:nvSpPr>
          <p:cNvPr id="4" name="Shape 2"/>
          <p:cNvSpPr/>
          <p:nvPr/>
        </p:nvSpPr>
        <p:spPr>
          <a:xfrm>
            <a:off x="822960" y="1691640"/>
            <a:ext cx="777240" cy="777240"/>
          </a:xfrm>
          <a:prstGeom prst="ellipse">
            <a:avLst/>
          </a:prstGeom>
          <a:solidFill>
            <a:srgbClr val="13678A"/>
          </a:solidFill>
          <a:ln w="12700">
            <a:solidFill>
              <a:srgbClr val="13678A"/>
            </a:solidFill>
            <a:prstDash val="solid"/>
          </a:ln>
        </p:spPr>
      </p:sp>
      <p:pic>
        <p:nvPicPr>
          <p:cNvPr id="5" name="Image 0" descr="preencoded.png">    </p:cNvPr>
          <p:cNvPicPr>
            <a:picLocks noChangeAspect="1"/>
          </p:cNvPicPr>
          <p:nvPr/>
        </p:nvPicPr>
        <p:blipFill>
          <a:blip r:embed="rId1"/>
          <a:stretch>
            <a:fillRect/>
          </a:stretch>
        </p:blipFill>
        <p:spPr>
          <a:xfrm>
            <a:off x="1009498" y="1878178"/>
            <a:ext cx="404165" cy="404165"/>
          </a:xfrm>
          <a:prstGeom prst="rect">
            <a:avLst/>
          </a:prstGeom>
        </p:spPr>
      </p:pic>
      <p:sp>
        <p:nvSpPr>
          <p:cNvPr id="6" name="Text 3"/>
          <p:cNvSpPr txBox="1"/>
          <p:nvPr/>
        </p:nvSpPr>
        <p:spPr>
          <a:xfrm>
            <a:off x="822960" y="2651760"/>
            <a:ext cx="2971800" cy="868680"/>
          </a:xfrm>
          <a:prstGeom prst="rect">
            <a:avLst/>
          </a:prstGeom>
          <a:noFill/>
          <a:ln/>
        </p:spPr>
        <p:txBody>
          <a:bodyPr wrap="square" lIns="0" tIns="0" rIns="0" bIns="0" rtlCol="0" anchor="t"/>
          <a:lstStyle/>
          <a:p>
            <a:pPr indent="0" marL="0">
              <a:buNone/>
            </a:pPr>
            <a:r>
              <a:rPr lang="en-US" sz="1800" b="1" dirty="0">
                <a:solidFill>
                  <a:srgbClr val="1B263B"/>
                </a:solidFill>
                <a:latin typeface="Calibri" pitchFamily="34" charset="0"/>
                <a:ea typeface="Calibri" pitchFamily="34" charset="-122"/>
                <a:cs typeface="Calibri" pitchFamily="34" charset="-120"/>
              </a:rPr>
              <a:t>Operating modes break the LSTM</a:t>
            </a:r>
            <a:endParaRPr lang="en-US" sz="1800" dirty="0"/>
          </a:p>
        </p:txBody>
      </p:sp>
      <p:sp>
        <p:nvSpPr>
          <p:cNvPr id="7" name="Text 4"/>
          <p:cNvSpPr txBox="1"/>
          <p:nvPr/>
        </p:nvSpPr>
        <p:spPr>
          <a:xfrm>
            <a:off x="822960" y="3566160"/>
            <a:ext cx="2971800" cy="2011680"/>
          </a:xfrm>
          <a:prstGeom prst="rect">
            <a:avLst/>
          </a:prstGeom>
          <a:noFill/>
          <a:ln/>
        </p:spPr>
        <p:txBody>
          <a:bodyPr wrap="square" lIns="0" tIns="0" rIns="0" bIns="0" rtlCol="0" anchor="t"/>
          <a:lstStyle/>
          <a:p>
            <a:pPr indent="0" marL="0">
              <a:buNone/>
            </a:pPr>
            <a:r>
              <a:rPr lang="en-US" sz="1600" dirty="0">
                <a:solidFill>
                  <a:srgbClr val="5C6B7A"/>
                </a:solidFill>
                <a:latin typeface="Calibri" pitchFamily="34" charset="0"/>
                <a:ea typeface="Calibri" pitchFamily="34" charset="-122"/>
                <a:cs typeface="Calibri" pitchFamily="34" charset="-120"/>
              </a:rPr>
              <a:t>A real plant switches modes between recordings. The model mistakes an unfamiliar normal mode for an attack; normalising within each mode is the next step.</a:t>
            </a:r>
            <a:endParaRPr lang="en-US" sz="1600" dirty="0"/>
          </a:p>
        </p:txBody>
      </p:sp>
      <p:sp>
        <p:nvSpPr>
          <p:cNvPr id="8" name="Shape 5"/>
          <p:cNvSpPr/>
          <p:nvPr/>
        </p:nvSpPr>
        <p:spPr>
          <a:xfrm>
            <a:off x="4297680" y="1371600"/>
            <a:ext cx="3520440" cy="4343400"/>
          </a:xfrm>
          <a:prstGeom prst="roundRect">
            <a:avLst>
              <a:gd name="adj" fmla="val 2078"/>
            </a:avLst>
          </a:prstGeom>
          <a:solidFill>
            <a:srgbClr val="F1F6F8"/>
          </a:solidFill>
          <a:ln w="12700">
            <a:solidFill>
              <a:srgbClr val="F1F6F8"/>
            </a:solidFill>
            <a:prstDash val="solid"/>
          </a:ln>
        </p:spPr>
      </p:sp>
      <p:sp>
        <p:nvSpPr>
          <p:cNvPr id="9" name="Shape 6"/>
          <p:cNvSpPr/>
          <p:nvPr/>
        </p:nvSpPr>
        <p:spPr>
          <a:xfrm>
            <a:off x="4572000" y="1691640"/>
            <a:ext cx="777240" cy="777240"/>
          </a:xfrm>
          <a:prstGeom prst="ellipse">
            <a:avLst/>
          </a:prstGeom>
          <a:solidFill>
            <a:srgbClr val="13678A"/>
          </a:solidFill>
          <a:ln w="12700">
            <a:solidFill>
              <a:srgbClr val="13678A"/>
            </a:solidFill>
            <a:prstDash val="solid"/>
          </a:ln>
        </p:spPr>
      </p:sp>
      <p:pic>
        <p:nvPicPr>
          <p:cNvPr id="10" name="Image 1" descr="preencoded.png">    </p:cNvPr>
          <p:cNvPicPr>
            <a:picLocks noChangeAspect="1"/>
          </p:cNvPicPr>
          <p:nvPr/>
        </p:nvPicPr>
        <p:blipFill>
          <a:blip r:embed="rId2"/>
          <a:stretch>
            <a:fillRect/>
          </a:stretch>
        </p:blipFill>
        <p:spPr>
          <a:xfrm>
            <a:off x="4758538" y="1878178"/>
            <a:ext cx="404165" cy="404165"/>
          </a:xfrm>
          <a:prstGeom prst="rect">
            <a:avLst/>
          </a:prstGeom>
        </p:spPr>
      </p:pic>
      <p:sp>
        <p:nvSpPr>
          <p:cNvPr id="11" name="Text 7"/>
          <p:cNvSpPr txBox="1"/>
          <p:nvPr/>
        </p:nvSpPr>
        <p:spPr>
          <a:xfrm>
            <a:off x="4572000" y="2651760"/>
            <a:ext cx="2971800" cy="868680"/>
          </a:xfrm>
          <a:prstGeom prst="rect">
            <a:avLst/>
          </a:prstGeom>
          <a:noFill/>
          <a:ln/>
        </p:spPr>
        <p:txBody>
          <a:bodyPr wrap="square" lIns="0" tIns="0" rIns="0" bIns="0" rtlCol="0" anchor="t"/>
          <a:lstStyle/>
          <a:p>
            <a:pPr indent="0" marL="0">
              <a:buNone/>
            </a:pPr>
            <a:r>
              <a:rPr lang="en-US" sz="1800" b="1" dirty="0">
                <a:solidFill>
                  <a:srgbClr val="1B263B"/>
                </a:solidFill>
                <a:latin typeface="Calibri" pitchFamily="34" charset="0"/>
                <a:ea typeface="Calibri" pitchFamily="34" charset="-122"/>
                <a:cs typeface="Calibri" pitchFamily="34" charset="-120"/>
              </a:rPr>
              <a:t>Simulation choices can fail on real data</a:t>
            </a:r>
            <a:endParaRPr lang="en-US" sz="1800" dirty="0"/>
          </a:p>
        </p:txBody>
      </p:sp>
      <p:sp>
        <p:nvSpPr>
          <p:cNvPr id="12" name="Text 8"/>
          <p:cNvSpPr txBox="1"/>
          <p:nvPr/>
        </p:nvSpPr>
        <p:spPr>
          <a:xfrm>
            <a:off x="4572000" y="3566160"/>
            <a:ext cx="2971800" cy="2011680"/>
          </a:xfrm>
          <a:prstGeom prst="rect">
            <a:avLst/>
          </a:prstGeom>
          <a:noFill/>
          <a:ln/>
        </p:spPr>
        <p:txBody>
          <a:bodyPr wrap="square" lIns="0" tIns="0" rIns="0" bIns="0" rtlCol="0" anchor="t"/>
          <a:lstStyle/>
          <a:p>
            <a:pPr indent="0" marL="0">
              <a:buNone/>
            </a:pPr>
            <a:r>
              <a:rPr lang="en-US" sz="1600" dirty="0">
                <a:solidFill>
                  <a:srgbClr val="5C6B7A"/>
                </a:solidFill>
                <a:latin typeface="Calibri" pitchFamily="34" charset="0"/>
                <a:ea typeface="Calibri" pitchFamily="34" charset="-122"/>
                <a:cs typeface="Calibri" pitchFamily="34" charset="-120"/>
              </a:rPr>
              <a:t>Scoring by the worst signal was essential for the stealth attack in simulation but was fragile on HAI's noisy sensors, where plain error did better.</a:t>
            </a:r>
            <a:endParaRPr lang="en-US" sz="1600" dirty="0"/>
          </a:p>
        </p:txBody>
      </p:sp>
      <p:sp>
        <p:nvSpPr>
          <p:cNvPr id="13" name="Shape 9"/>
          <p:cNvSpPr/>
          <p:nvPr/>
        </p:nvSpPr>
        <p:spPr>
          <a:xfrm>
            <a:off x="8046720" y="1371600"/>
            <a:ext cx="3520440" cy="4343400"/>
          </a:xfrm>
          <a:prstGeom prst="roundRect">
            <a:avLst>
              <a:gd name="adj" fmla="val 2078"/>
            </a:avLst>
          </a:prstGeom>
          <a:solidFill>
            <a:srgbClr val="F1F6F8"/>
          </a:solidFill>
          <a:ln w="12700">
            <a:solidFill>
              <a:srgbClr val="F1F6F8"/>
            </a:solidFill>
            <a:prstDash val="solid"/>
          </a:ln>
        </p:spPr>
      </p:sp>
      <p:sp>
        <p:nvSpPr>
          <p:cNvPr id="14" name="Shape 10"/>
          <p:cNvSpPr/>
          <p:nvPr/>
        </p:nvSpPr>
        <p:spPr>
          <a:xfrm>
            <a:off x="8321040" y="1691640"/>
            <a:ext cx="777240" cy="777240"/>
          </a:xfrm>
          <a:prstGeom prst="ellipse">
            <a:avLst/>
          </a:prstGeom>
          <a:solidFill>
            <a:srgbClr val="D64545"/>
          </a:solidFill>
          <a:ln w="12700">
            <a:solidFill>
              <a:srgbClr val="D64545"/>
            </a:solidFill>
            <a:prstDash val="solid"/>
          </a:ln>
        </p:spPr>
      </p:sp>
      <p:pic>
        <p:nvPicPr>
          <p:cNvPr id="15" name="Image 2" descr="preencoded.png">    </p:cNvPr>
          <p:cNvPicPr>
            <a:picLocks noChangeAspect="1"/>
          </p:cNvPicPr>
          <p:nvPr/>
        </p:nvPicPr>
        <p:blipFill>
          <a:blip r:embed="rId3"/>
          <a:stretch>
            <a:fillRect/>
          </a:stretch>
        </p:blipFill>
        <p:spPr>
          <a:xfrm>
            <a:off x="8507578" y="1878178"/>
            <a:ext cx="404165" cy="404165"/>
          </a:xfrm>
          <a:prstGeom prst="rect">
            <a:avLst/>
          </a:prstGeom>
        </p:spPr>
      </p:pic>
      <p:sp>
        <p:nvSpPr>
          <p:cNvPr id="16" name="Text 11"/>
          <p:cNvSpPr txBox="1"/>
          <p:nvPr/>
        </p:nvSpPr>
        <p:spPr>
          <a:xfrm>
            <a:off x="8321040" y="2651760"/>
            <a:ext cx="2971800" cy="868680"/>
          </a:xfrm>
          <a:prstGeom prst="rect">
            <a:avLst/>
          </a:prstGeom>
          <a:noFill/>
          <a:ln/>
        </p:spPr>
        <p:txBody>
          <a:bodyPr wrap="square" lIns="0" tIns="0" rIns="0" bIns="0" rtlCol="0" anchor="t"/>
          <a:lstStyle/>
          <a:p>
            <a:pPr indent="0" marL="0">
              <a:buNone/>
            </a:pPr>
            <a:r>
              <a:rPr lang="en-US" sz="1800" b="1" dirty="0">
                <a:solidFill>
                  <a:srgbClr val="1B263B"/>
                </a:solidFill>
                <a:latin typeface="Calibri" pitchFamily="34" charset="0"/>
                <a:ea typeface="Calibri" pitchFamily="34" charset="-122"/>
                <a:cs typeface="Calibri" pitchFamily="34" charset="-120"/>
              </a:rPr>
              <a:t>Plot the data before trusting results</a:t>
            </a:r>
            <a:endParaRPr lang="en-US" sz="1800" dirty="0"/>
          </a:p>
        </p:txBody>
      </p:sp>
      <p:sp>
        <p:nvSpPr>
          <p:cNvPr id="17" name="Text 12"/>
          <p:cNvSpPr txBox="1"/>
          <p:nvPr/>
        </p:nvSpPr>
        <p:spPr>
          <a:xfrm>
            <a:off x="8321040" y="3566160"/>
            <a:ext cx="2971800" cy="2011680"/>
          </a:xfrm>
          <a:prstGeom prst="rect">
            <a:avLst/>
          </a:prstGeom>
          <a:noFill/>
          <a:ln/>
        </p:spPr>
        <p:txBody>
          <a:bodyPr wrap="square" lIns="0" tIns="0" rIns="0" bIns="0" rtlCol="0" anchor="t"/>
          <a:lstStyle/>
          <a:p>
            <a:pPr indent="0" marL="0">
              <a:buNone/>
            </a:pPr>
            <a:r>
              <a:rPr lang="en-US" sz="1600" dirty="0">
                <a:solidFill>
                  <a:srgbClr val="5C6B7A"/>
                </a:solidFill>
                <a:latin typeface="Calibri" pitchFamily="34" charset="0"/>
                <a:ea typeface="Calibri" pitchFamily="34" charset="-122"/>
                <a:cs typeface="Calibri" pitchFamily="34" charset="-120"/>
              </a:rPr>
              <a:t>A plot revealed that our controller never restored a pump after an attack. Fixing it changed every simulator result, and a test now guards it.</a:t>
            </a:r>
            <a:endParaRPr lang="en-US" sz="1600" dirty="0"/>
          </a:p>
        </p:txBody>
      </p:sp>
      <p:sp>
        <p:nvSpPr>
          <p:cNvPr id="18" name="Text 13"/>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8A97A6"/>
                </a:solidFill>
                <a:latin typeface="Calibri" pitchFamily="34" charset="0"/>
                <a:ea typeface="Calibri" pitchFamily="34" charset="-122"/>
                <a:cs typeface="Calibri" pitchFamily="34" charset="-120"/>
              </a:rPr>
              <a:t>13 / 15</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73152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Limitations and future work</a:t>
            </a:r>
            <a:endParaRPr lang="en-US" sz="3200" dirty="0"/>
          </a:p>
        </p:txBody>
      </p:sp>
      <p:sp>
        <p:nvSpPr>
          <p:cNvPr id="3" name="Shape 1"/>
          <p:cNvSpPr/>
          <p:nvPr/>
        </p:nvSpPr>
        <p:spPr>
          <a:xfrm>
            <a:off x="548640" y="1280160"/>
            <a:ext cx="5349240" cy="4846320"/>
          </a:xfrm>
          <a:prstGeom prst="roundRect">
            <a:avLst>
              <a:gd name="adj" fmla="val 1509"/>
            </a:avLst>
          </a:prstGeom>
          <a:solidFill>
            <a:srgbClr val="F1F6F8"/>
          </a:solidFill>
          <a:ln w="12700">
            <a:solidFill>
              <a:srgbClr val="F1F6F8"/>
            </a:solidFill>
            <a:prstDash val="solid"/>
          </a:ln>
        </p:spPr>
      </p:sp>
      <p:sp>
        <p:nvSpPr>
          <p:cNvPr id="4" name="Text 2"/>
          <p:cNvSpPr txBox="1"/>
          <p:nvPr/>
        </p:nvSpPr>
        <p:spPr>
          <a:xfrm>
            <a:off x="822960" y="1463040"/>
            <a:ext cx="4754880" cy="457200"/>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Limitations</a:t>
            </a:r>
            <a:endParaRPr lang="en-US" sz="2000" dirty="0"/>
          </a:p>
        </p:txBody>
      </p:sp>
      <p:sp>
        <p:nvSpPr>
          <p:cNvPr id="5" name="Text 3"/>
          <p:cNvSpPr txBox="1"/>
          <p:nvPr/>
        </p:nvSpPr>
        <p:spPr>
          <a:xfrm>
            <a:off x="822960" y="2057400"/>
            <a:ext cx="4846320" cy="393192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1B263B"/>
                </a:solidFill>
                <a:latin typeface="Calibri" pitchFamily="34" charset="0"/>
                <a:ea typeface="Calibri" pitchFamily="34" charset="-122"/>
                <a:cs typeface="Calibri" pitchFamily="34" charset="-120"/>
              </a:rPr>
              <a:t>Simulator results are optimistic: one 510 s run, attacks we designed</a:t>
            </a:r>
            <a:endParaRPr lang="en-US" sz="1800" dirty="0"/>
          </a:p>
          <a:p>
            <a:pPr marL="342900" indent="-342900">
              <a:spcAft>
                <a:spcPts val="1400"/>
              </a:spcAft>
              <a:buSzPct val="100000"/>
              <a:buChar char="•"/>
            </a:pPr>
            <a:r>
              <a:rPr lang="en-US" sz="1800" dirty="0">
                <a:solidFill>
                  <a:srgbClr val="1B263B"/>
                </a:solidFill>
                <a:latin typeface="Calibri" pitchFamily="34" charset="0"/>
                <a:ea typeface="Calibri" pitchFamily="34" charset="-122"/>
                <a:cs typeface="Calibri" pitchFamily="34" charset="-120"/>
              </a:rPr>
              <a:t>The LSTM does not generalise to HAI</a:t>
            </a:r>
            <a:endParaRPr lang="en-US" sz="1800" dirty="0"/>
          </a:p>
          <a:p>
            <a:pPr marL="342900" indent="-342900">
              <a:spcAft>
                <a:spcPts val="1400"/>
              </a:spcAft>
              <a:buSzPct val="100000"/>
              <a:buChar char="•"/>
            </a:pPr>
            <a:r>
              <a:rPr lang="en-US" sz="1800" dirty="0">
                <a:solidFill>
                  <a:srgbClr val="1B263B"/>
                </a:solidFill>
                <a:latin typeface="Calibri" pitchFamily="34" charset="0"/>
                <a:ea typeface="Calibri" pitchFamily="34" charset="-122"/>
                <a:cs typeface="Calibri" pitchFamily="34" charset="-120"/>
              </a:rPr>
              <a:t>Network log is generator-recorded, not a packet capture</a:t>
            </a:r>
            <a:endParaRPr lang="en-US" sz="1800" dirty="0"/>
          </a:p>
          <a:p>
            <a:pPr marL="342900" indent="-342900">
              <a:spcAft>
                <a:spcPts val="1400"/>
              </a:spcAft>
              <a:buSzPct val="100000"/>
              <a:buChar char="•"/>
            </a:pPr>
            <a:r>
              <a:rPr lang="en-US" sz="1800" dirty="0">
                <a:solidFill>
                  <a:srgbClr val="1B263B"/>
                </a:solidFill>
                <a:latin typeface="Calibri" pitchFamily="34" charset="0"/>
                <a:ea typeface="Calibri" pitchFamily="34" charset="-122"/>
                <a:cs typeface="Calibri" pitchFamily="34" charset="-120"/>
              </a:rPr>
              <a:t>Detection runs offline over recorded logs</a:t>
            </a:r>
            <a:endParaRPr lang="en-US" sz="1800" dirty="0"/>
          </a:p>
          <a:p>
            <a:pPr marL="342900" indent="-342900">
              <a:spcAft>
                <a:spcPts val="1400"/>
              </a:spcAft>
              <a:buSzPct val="100000"/>
              <a:buChar char="•"/>
            </a:pPr>
            <a:r>
              <a:rPr lang="en-US" sz="1800" dirty="0">
                <a:solidFill>
                  <a:srgbClr val="1B263B"/>
                </a:solidFill>
                <a:latin typeface="Calibri" pitchFamily="34" charset="0"/>
                <a:ea typeface="Calibri" pitchFamily="34" charset="-122"/>
                <a:cs typeface="Calibri" pitchFamily="34" charset="-120"/>
              </a:rPr>
              <a:t>Hash chain on one host; Fabric and OpenPLC not integrated</a:t>
            </a:r>
            <a:endParaRPr lang="en-US" sz="1800" dirty="0"/>
          </a:p>
        </p:txBody>
      </p:sp>
      <p:sp>
        <p:nvSpPr>
          <p:cNvPr id="6" name="Shape 4"/>
          <p:cNvSpPr/>
          <p:nvPr/>
        </p:nvSpPr>
        <p:spPr>
          <a:xfrm>
            <a:off x="6291072" y="1280160"/>
            <a:ext cx="5349240" cy="4846320"/>
          </a:xfrm>
          <a:prstGeom prst="roundRect">
            <a:avLst>
              <a:gd name="adj" fmla="val 1509"/>
            </a:avLst>
          </a:prstGeom>
          <a:solidFill>
            <a:srgbClr val="D8ECEF"/>
          </a:solidFill>
          <a:ln w="12700">
            <a:solidFill>
              <a:srgbClr val="D8ECEF"/>
            </a:solidFill>
            <a:prstDash val="solid"/>
          </a:ln>
        </p:spPr>
      </p:sp>
      <p:sp>
        <p:nvSpPr>
          <p:cNvPr id="7" name="Text 5"/>
          <p:cNvSpPr txBox="1"/>
          <p:nvPr/>
        </p:nvSpPr>
        <p:spPr>
          <a:xfrm>
            <a:off x="6565392" y="1463040"/>
            <a:ext cx="4754880" cy="457200"/>
          </a:xfrm>
          <a:prstGeom prst="rect">
            <a:avLst/>
          </a:prstGeom>
          <a:noFill/>
          <a:ln/>
        </p:spPr>
        <p:txBody>
          <a:bodyPr wrap="square" lIns="0" tIns="0" rIns="0" bIns="0" rtlCol="0" anchor="ctr"/>
          <a:lstStyle/>
          <a:p>
            <a:pPr indent="0" marL="0">
              <a:buNone/>
            </a:pPr>
            <a:r>
              <a:rPr lang="en-US" sz="2000" b="1" dirty="0">
                <a:solidFill>
                  <a:srgbClr val="13678A"/>
                </a:solidFill>
                <a:latin typeface="Calibri" pitchFamily="34" charset="0"/>
                <a:ea typeface="Calibri" pitchFamily="34" charset="-122"/>
                <a:cs typeface="Calibri" pitchFamily="34" charset="-120"/>
              </a:rPr>
              <a:t>Future work</a:t>
            </a:r>
            <a:endParaRPr lang="en-US" sz="2000" dirty="0"/>
          </a:p>
        </p:txBody>
      </p:sp>
      <p:sp>
        <p:nvSpPr>
          <p:cNvPr id="8" name="Text 6"/>
          <p:cNvSpPr txBox="1"/>
          <p:nvPr/>
        </p:nvSpPr>
        <p:spPr>
          <a:xfrm>
            <a:off x="6565392" y="2057400"/>
            <a:ext cx="4846320" cy="393192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1B263B"/>
                </a:solidFill>
                <a:latin typeface="Calibri" pitchFamily="34" charset="0"/>
                <a:ea typeface="Calibri" pitchFamily="34" charset="-122"/>
                <a:cs typeface="Calibri" pitchFamily="34" charset="-120"/>
              </a:rPr>
              <a:t>Mode-aware normalisation or a rolling baseline for the LSTM</a:t>
            </a:r>
            <a:endParaRPr lang="en-US" sz="1800" dirty="0"/>
          </a:p>
          <a:p>
            <a:pPr marL="342900" indent="-342900">
              <a:spcAft>
                <a:spcPts val="1400"/>
              </a:spcAft>
              <a:buSzPct val="100000"/>
              <a:buChar char="•"/>
            </a:pPr>
            <a:r>
              <a:rPr lang="en-US" sz="1800" dirty="0">
                <a:solidFill>
                  <a:srgbClr val="1B263B"/>
                </a:solidFill>
                <a:latin typeface="Calibri" pitchFamily="34" charset="0"/>
                <a:ea typeface="Calibri" pitchFamily="34" charset="-122"/>
                <a:cs typeface="Calibri" pitchFamily="34" charset="-120"/>
              </a:rPr>
              <a:t>Train on all six HAI recordings; confirm on test2 with eTaPR</a:t>
            </a:r>
            <a:endParaRPr lang="en-US" sz="1800" dirty="0"/>
          </a:p>
          <a:p>
            <a:pPr marL="342900" indent="-342900">
              <a:spcAft>
                <a:spcPts val="1400"/>
              </a:spcAft>
              <a:buSzPct val="100000"/>
              <a:buChar char="•"/>
            </a:pPr>
            <a:r>
              <a:rPr lang="en-US" sz="1800" dirty="0">
                <a:solidFill>
                  <a:srgbClr val="1B263B"/>
                </a:solidFill>
                <a:latin typeface="Calibri" pitchFamily="34" charset="0"/>
                <a:ea typeface="Calibri" pitchFamily="34" charset="-122"/>
                <a:cs typeface="Calibri" pitchFamily="34" charset="-120"/>
              </a:rPr>
              <a:t>Capture traffic with tshark; add an EtherNet/IP decoder</a:t>
            </a:r>
            <a:endParaRPr lang="en-US" sz="1800" dirty="0"/>
          </a:p>
          <a:p>
            <a:pPr marL="342900" indent="-342900">
              <a:spcAft>
                <a:spcPts val="1400"/>
              </a:spcAft>
              <a:buSzPct val="100000"/>
              <a:buChar char="•"/>
            </a:pPr>
            <a:r>
              <a:rPr lang="en-US" sz="1800" dirty="0">
                <a:solidFill>
                  <a:srgbClr val="1B263B"/>
                </a:solidFill>
                <a:latin typeface="Calibri" pitchFamily="34" charset="0"/>
                <a:ea typeface="Calibri" pitchFamily="34" charset="-122"/>
                <a:cs typeface="Calibri" pitchFamily="34" charset="-120"/>
              </a:rPr>
              <a:t>Run the detectors as live services behind the dashboard</a:t>
            </a:r>
            <a:endParaRPr lang="en-US" sz="1800" dirty="0"/>
          </a:p>
          <a:p>
            <a:pPr marL="342900" indent="-342900">
              <a:spcAft>
                <a:spcPts val="1400"/>
              </a:spcAft>
              <a:buSzPct val="100000"/>
              <a:buChar char="•"/>
            </a:pPr>
            <a:r>
              <a:rPr lang="en-US" sz="1800" dirty="0">
                <a:solidFill>
                  <a:srgbClr val="1B263B"/>
                </a:solidFill>
                <a:latin typeface="Calibri" pitchFamily="34" charset="0"/>
                <a:ea typeface="Calibri" pitchFamily="34" charset="-122"/>
                <a:cs typeface="Calibri" pitchFamily="34" charset="-120"/>
              </a:rPr>
              <a:t>Hyperledger Fabric backend; OpenPLC in the loop</a:t>
            </a:r>
            <a:endParaRPr lang="en-US" sz="1800" dirty="0"/>
          </a:p>
        </p:txBody>
      </p:sp>
      <p:sp>
        <p:nvSpPr>
          <p:cNvPr id="9" name="Text 7"/>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8A97A6"/>
                </a:solidFill>
                <a:latin typeface="Calibri" pitchFamily="34" charset="0"/>
                <a:ea typeface="Calibri" pitchFamily="34" charset="-122"/>
                <a:cs typeface="Calibri" pitchFamily="34" charset="-120"/>
              </a:rPr>
              <a:t>14 / 15</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2545"/>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Conclusion</a:t>
            </a:r>
            <a:endParaRPr lang="en-US" sz="3600" dirty="0"/>
          </a:p>
        </p:txBody>
      </p:sp>
      <p:sp>
        <p:nvSpPr>
          <p:cNvPr id="3" name="Shape 1"/>
          <p:cNvSpPr/>
          <p:nvPr/>
        </p:nvSpPr>
        <p:spPr>
          <a:xfrm>
            <a:off x="548640" y="1691640"/>
            <a:ext cx="731520" cy="731520"/>
          </a:xfrm>
          <a:prstGeom prst="ellipse">
            <a:avLst/>
          </a:prstGeom>
          <a:solidFill>
            <a:srgbClr val="13678A"/>
          </a:solidFill>
          <a:ln w="12700">
            <a:solidFill>
              <a:srgbClr val="13678A"/>
            </a:solidFill>
            <a:prstDash val="solid"/>
          </a:ln>
        </p:spPr>
      </p:sp>
      <p:pic>
        <p:nvPicPr>
          <p:cNvPr id="4" name="Image 0" descr="preencoded.png">    </p:cNvPr>
          <p:cNvPicPr>
            <a:picLocks noChangeAspect="1"/>
          </p:cNvPicPr>
          <p:nvPr/>
        </p:nvPicPr>
        <p:blipFill>
          <a:blip r:embed="rId1"/>
          <a:stretch>
            <a:fillRect/>
          </a:stretch>
        </p:blipFill>
        <p:spPr>
          <a:xfrm>
            <a:off x="724205" y="1867205"/>
            <a:ext cx="380390" cy="380390"/>
          </a:xfrm>
          <a:prstGeom prst="rect">
            <a:avLst/>
          </a:prstGeom>
        </p:spPr>
      </p:pic>
      <p:sp>
        <p:nvSpPr>
          <p:cNvPr id="5" name="Text 2"/>
          <p:cNvSpPr txBox="1"/>
          <p:nvPr/>
        </p:nvSpPr>
        <p:spPr>
          <a:xfrm>
            <a:off x="1554480" y="1691640"/>
            <a:ext cx="6675120" cy="73152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Layered detection works in simulation: all five attacks caught in the first second, with interpretable alerts.</a:t>
            </a:r>
            <a:endParaRPr lang="en-US" sz="1800" dirty="0"/>
          </a:p>
        </p:txBody>
      </p:sp>
      <p:sp>
        <p:nvSpPr>
          <p:cNvPr id="6" name="Shape 3"/>
          <p:cNvSpPr/>
          <p:nvPr/>
        </p:nvSpPr>
        <p:spPr>
          <a:xfrm>
            <a:off x="548640" y="2880360"/>
            <a:ext cx="731520" cy="731520"/>
          </a:xfrm>
          <a:prstGeom prst="ellipse">
            <a:avLst/>
          </a:prstGeom>
          <a:solidFill>
            <a:srgbClr val="13678A"/>
          </a:solidFill>
          <a:ln w="12700">
            <a:solidFill>
              <a:srgbClr val="13678A"/>
            </a:solidFill>
            <a:prstDash val="solid"/>
          </a:ln>
        </p:spPr>
      </p:sp>
      <p:pic>
        <p:nvPicPr>
          <p:cNvPr id="7" name="Image 1" descr="preencoded.png">    </p:cNvPr>
          <p:cNvPicPr>
            <a:picLocks noChangeAspect="1"/>
          </p:cNvPicPr>
          <p:nvPr/>
        </p:nvPicPr>
        <p:blipFill>
          <a:blip r:embed="rId2"/>
          <a:stretch>
            <a:fillRect/>
          </a:stretch>
        </p:blipFill>
        <p:spPr>
          <a:xfrm>
            <a:off x="724205" y="3055925"/>
            <a:ext cx="380390" cy="380390"/>
          </a:xfrm>
          <a:prstGeom prst="rect">
            <a:avLst/>
          </a:prstGeom>
        </p:spPr>
      </p:pic>
      <p:sp>
        <p:nvSpPr>
          <p:cNvPr id="8" name="Text 4"/>
          <p:cNvSpPr txBox="1"/>
          <p:nvPr/>
        </p:nvSpPr>
        <p:spPr>
          <a:xfrm>
            <a:off x="1554480" y="2880360"/>
            <a:ext cx="6675120" cy="73152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signed hash chain makes every command and alert tamper-evident.</a:t>
            </a:r>
            <a:endParaRPr lang="en-US" sz="1800" dirty="0"/>
          </a:p>
        </p:txBody>
      </p:sp>
      <p:sp>
        <p:nvSpPr>
          <p:cNvPr id="9" name="Shape 5"/>
          <p:cNvSpPr/>
          <p:nvPr/>
        </p:nvSpPr>
        <p:spPr>
          <a:xfrm>
            <a:off x="548640" y="4069080"/>
            <a:ext cx="731520" cy="731520"/>
          </a:xfrm>
          <a:prstGeom prst="ellipse">
            <a:avLst/>
          </a:prstGeom>
          <a:solidFill>
            <a:srgbClr val="D64545"/>
          </a:solidFill>
          <a:ln w="12700">
            <a:solidFill>
              <a:srgbClr val="D64545"/>
            </a:solidFill>
            <a:prstDash val="solid"/>
          </a:ln>
        </p:spPr>
      </p:sp>
      <p:pic>
        <p:nvPicPr>
          <p:cNvPr id="10" name="Image 2" descr="preencoded.png">    </p:cNvPr>
          <p:cNvPicPr>
            <a:picLocks noChangeAspect="1"/>
          </p:cNvPicPr>
          <p:nvPr/>
        </p:nvPicPr>
        <p:blipFill>
          <a:blip r:embed="rId3"/>
          <a:stretch>
            <a:fillRect/>
          </a:stretch>
        </p:blipFill>
        <p:spPr>
          <a:xfrm>
            <a:off x="724205" y="4244645"/>
            <a:ext cx="380390" cy="380390"/>
          </a:xfrm>
          <a:prstGeom prst="rect">
            <a:avLst/>
          </a:prstGeom>
        </p:spPr>
      </p:pic>
      <p:sp>
        <p:nvSpPr>
          <p:cNvPr id="11" name="Text 6"/>
          <p:cNvSpPr txBox="1"/>
          <p:nvPr/>
        </p:nvSpPr>
        <p:spPr>
          <a:xfrm>
            <a:off x="1554480" y="4069080"/>
            <a:ext cx="6675120" cy="73152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On real data the LSTM is not yet reliable; handling operating modes is the key next step.</a:t>
            </a:r>
            <a:endParaRPr lang="en-US" sz="1800" dirty="0"/>
          </a:p>
        </p:txBody>
      </p:sp>
      <p:sp>
        <p:nvSpPr>
          <p:cNvPr id="12" name="Text 7"/>
          <p:cNvSpPr txBox="1"/>
          <p:nvPr/>
        </p:nvSpPr>
        <p:spPr>
          <a:xfrm>
            <a:off x="8412480" y="2103120"/>
            <a:ext cx="3200400" cy="822960"/>
          </a:xfrm>
          <a:prstGeom prst="rect">
            <a:avLst/>
          </a:prstGeom>
          <a:noFill/>
          <a:ln/>
        </p:spPr>
        <p:txBody>
          <a:bodyPr wrap="square" lIns="0" tIns="0" rIns="0" bIns="0" rtlCol="0" anchor="ctr"/>
          <a:lstStyle/>
          <a:p>
            <a:pPr algn="r" indent="0" marL="0">
              <a:buNone/>
            </a:pPr>
            <a:r>
              <a:rPr lang="en-US" sz="3600" b="1" dirty="0">
                <a:solidFill>
                  <a:srgbClr val="3DB4A5"/>
                </a:solidFill>
                <a:latin typeface="Cambria" pitchFamily="34" charset="0"/>
                <a:ea typeface="Cambria" pitchFamily="34" charset="-122"/>
                <a:cs typeface="Cambria" pitchFamily="34" charset="-120"/>
              </a:rPr>
              <a:t>Thank you</a:t>
            </a:r>
            <a:endParaRPr lang="en-US" sz="3600" dirty="0"/>
          </a:p>
        </p:txBody>
      </p:sp>
      <p:sp>
        <p:nvSpPr>
          <p:cNvPr id="13" name="Text 8"/>
          <p:cNvSpPr txBox="1"/>
          <p:nvPr/>
        </p:nvSpPr>
        <p:spPr>
          <a:xfrm>
            <a:off x="8412480" y="2926080"/>
            <a:ext cx="3200400" cy="548640"/>
          </a:xfrm>
          <a:prstGeom prst="rect">
            <a:avLst/>
          </a:prstGeom>
          <a:noFill/>
          <a:ln/>
        </p:spPr>
        <p:txBody>
          <a:bodyPr wrap="square" lIns="0" tIns="0" rIns="0" bIns="0" rtlCol="0" anchor="ctr"/>
          <a:lstStyle/>
          <a:p>
            <a:pPr algn="r" indent="0" marL="0">
              <a:buNone/>
            </a:pPr>
            <a:r>
              <a:rPr lang="en-US" sz="2200" dirty="0">
                <a:solidFill>
                  <a:srgbClr val="C9D6E3"/>
                </a:solidFill>
                <a:latin typeface="Calibri" pitchFamily="34" charset="0"/>
                <a:ea typeface="Calibri" pitchFamily="34" charset="-122"/>
                <a:cs typeface="Calibri" pitchFamily="34" charset="-120"/>
              </a:rPr>
              <a:t>Questions?</a:t>
            </a:r>
            <a:endParaRPr lang="en-US" sz="2200" dirty="0"/>
          </a:p>
        </p:txBody>
      </p:sp>
      <p:sp>
        <p:nvSpPr>
          <p:cNvPr id="14" name="Text 9"/>
          <p:cNvSpPr txBox="1"/>
          <p:nvPr/>
        </p:nvSpPr>
        <p:spPr>
          <a:xfrm>
            <a:off x="548640" y="5760720"/>
            <a:ext cx="10058400" cy="365760"/>
          </a:xfrm>
          <a:prstGeom prst="rect">
            <a:avLst/>
          </a:prstGeom>
          <a:noFill/>
          <a:ln/>
        </p:spPr>
        <p:txBody>
          <a:bodyPr wrap="square" lIns="0" tIns="0" rIns="0" bIns="0" rtlCol="0" anchor="ctr"/>
          <a:lstStyle/>
          <a:p>
            <a:pPr indent="0" marL="0">
              <a:buNone/>
            </a:pPr>
            <a:r>
              <a:rPr lang="en-US" sz="1200" dirty="0">
                <a:solidFill>
                  <a:srgbClr val="9FB3C8"/>
                </a:solidFill>
                <a:latin typeface="Calibri" pitchFamily="34" charset="0"/>
                <a:ea typeface="Calibri" pitchFamily="34" charset="-122"/>
                <a:cs typeface="Calibri" pitchFamily="34" charset="-120"/>
              </a:rPr>
              <a:t>Code, results and report: private GitHub repository fyp-ics-water-treatment</a:t>
            </a:r>
            <a:endParaRPr lang="en-US" sz="1200" dirty="0"/>
          </a:p>
        </p:txBody>
      </p:sp>
      <p:sp>
        <p:nvSpPr>
          <p:cNvPr id="15" name="Text 10"/>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9FB3C8"/>
                </a:solidFill>
                <a:latin typeface="Calibri" pitchFamily="34" charset="0"/>
                <a:ea typeface="Calibri" pitchFamily="34" charset="-122"/>
                <a:cs typeface="Calibri" pitchFamily="34" charset="-120"/>
              </a:rPr>
              <a:t>15 / 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Cyber-Attack Detection for a Water Treatment ICS</dc:title>
  <dc:subject>PptxGenJS Presentation</dc:subject>
  <dc:creator>PptxGenJS</dc:creator>
  <cp:lastModifiedBy>PptxGenJS</cp:lastModifiedBy>
  <cp:revision>1</cp:revision>
  <dcterms:created xsi:type="dcterms:W3CDTF">2026-09-30T11:52:14Z</dcterms:created>
  <dcterms:modified xsi:type="dcterms:W3CDTF">2026-09-30T11:52:14Z</dcterms:modified>
</cp:coreProperties>
</file>